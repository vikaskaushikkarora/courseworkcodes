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4" r:id="rId4"/>
    <p:sldId id="262" r:id="rId5"/>
    <p:sldId id="263" r:id="rId6"/>
    <p:sldId id="269" r:id="rId7"/>
    <p:sldId id="277" r:id="rId8"/>
    <p:sldId id="278" r:id="rId9"/>
    <p:sldId id="279" r:id="rId10"/>
    <p:sldId id="27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09" autoAdjust="0"/>
    <p:restoredTop sz="94660"/>
  </p:normalViewPr>
  <p:slideViewPr>
    <p:cSldViewPr>
      <p:cViewPr>
        <p:scale>
          <a:sx n="66" d="100"/>
          <a:sy n="66" d="100"/>
        </p:scale>
        <p:origin x="-1800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04FFA-9A8A-416E-8F97-D78CB9F30A93}" type="datetimeFigureOut">
              <a:rPr lang="en-IN" smtClean="0"/>
              <a:pPr/>
              <a:t>31-10-2018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8CB7E-EB27-4307-8A36-3D92F2CBAE54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58CB7E-EB27-4307-8A36-3D92F2CBAE54}" type="slidenum">
              <a:rPr lang="en-IN" smtClean="0"/>
              <a:pPr/>
              <a:t>4</a:t>
            </a:fld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6DF5-E740-4E94-A4D7-E8EAC82C631D}" type="datetimeFigureOut">
              <a:rPr lang="en-IN" smtClean="0"/>
              <a:pPr/>
              <a:t>31-10-2018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E18-401F-4EDD-8073-54AA731E7903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6DF5-E740-4E94-A4D7-E8EAC82C631D}" type="datetimeFigureOut">
              <a:rPr lang="en-IN" smtClean="0"/>
              <a:pPr/>
              <a:t>31-10-2018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E18-401F-4EDD-8073-54AA731E7903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6DF5-E740-4E94-A4D7-E8EAC82C631D}" type="datetimeFigureOut">
              <a:rPr lang="en-IN" smtClean="0"/>
              <a:pPr/>
              <a:t>31-10-2018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E18-401F-4EDD-8073-54AA731E7903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6DF5-E740-4E94-A4D7-E8EAC82C631D}" type="datetimeFigureOut">
              <a:rPr lang="en-IN" smtClean="0"/>
              <a:pPr/>
              <a:t>31-10-2018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E18-401F-4EDD-8073-54AA731E7903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6DF5-E740-4E94-A4D7-E8EAC82C631D}" type="datetimeFigureOut">
              <a:rPr lang="en-IN" smtClean="0"/>
              <a:pPr/>
              <a:t>31-10-2018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E18-401F-4EDD-8073-54AA731E7903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6DF5-E740-4E94-A4D7-E8EAC82C631D}" type="datetimeFigureOut">
              <a:rPr lang="en-IN" smtClean="0"/>
              <a:pPr/>
              <a:t>31-10-2018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E18-401F-4EDD-8073-54AA731E7903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6DF5-E740-4E94-A4D7-E8EAC82C631D}" type="datetimeFigureOut">
              <a:rPr lang="en-IN" smtClean="0"/>
              <a:pPr/>
              <a:t>31-10-2018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E18-401F-4EDD-8073-54AA731E7903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6DF5-E740-4E94-A4D7-E8EAC82C631D}" type="datetimeFigureOut">
              <a:rPr lang="en-IN" smtClean="0"/>
              <a:pPr/>
              <a:t>31-10-2018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E18-401F-4EDD-8073-54AA731E7903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6DF5-E740-4E94-A4D7-E8EAC82C631D}" type="datetimeFigureOut">
              <a:rPr lang="en-IN" smtClean="0"/>
              <a:pPr/>
              <a:t>31-10-2018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E18-401F-4EDD-8073-54AA731E7903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6DF5-E740-4E94-A4D7-E8EAC82C631D}" type="datetimeFigureOut">
              <a:rPr lang="en-IN" smtClean="0"/>
              <a:pPr/>
              <a:t>31-10-2018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E18-401F-4EDD-8073-54AA731E7903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6DF5-E740-4E94-A4D7-E8EAC82C631D}" type="datetimeFigureOut">
              <a:rPr lang="en-IN" smtClean="0"/>
              <a:pPr/>
              <a:t>31-10-2018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E18-401F-4EDD-8073-54AA731E7903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46DF5-E740-4E94-A4D7-E8EAC82C631D}" type="datetimeFigureOut">
              <a:rPr lang="en-IN" smtClean="0"/>
              <a:pPr/>
              <a:t>31-10-2018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9DE18-401F-4EDD-8073-54AA731E7903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near_algebra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atrix_multiplication" TargetMode="External"/><Relationship Id="rId5" Type="http://schemas.openxmlformats.org/officeDocument/2006/relationships/hyperlink" Target="https://en.wikipedia.org/wiki/Identity_matrix" TargetMode="External"/><Relationship Id="rId4" Type="http://schemas.openxmlformats.org/officeDocument/2006/relationships/hyperlink" Target="https://en.wikipedia.org/wiki/Square_matrix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Image result for official ppt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827584" y="188640"/>
            <a:ext cx="8316416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  <a:latin typeface="Algerian" pitchFamily="82" charset="0"/>
              </a:rPr>
              <a:t>DiagonAlization</a:t>
            </a:r>
            <a:r>
              <a:rPr lang="en-US" sz="54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  <a:latin typeface="Algerian" pitchFamily="82" charset="0"/>
              </a:rPr>
              <a:t>, inverse and </a:t>
            </a:r>
            <a:r>
              <a:rPr lang="en-US" sz="5400" b="1" dirty="0" err="1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  <a:latin typeface="Algerian" pitchFamily="82" charset="0"/>
              </a:rPr>
              <a:t>eigen</a:t>
            </a:r>
            <a:r>
              <a:rPr lang="en-US" sz="54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  <a:latin typeface="Algerian" pitchFamily="82" charset="0"/>
              </a:rPr>
              <a:t> values and </a:t>
            </a:r>
            <a:r>
              <a:rPr lang="en-US" sz="5400" b="1" dirty="0" err="1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  <a:latin typeface="Algerian" pitchFamily="82" charset="0"/>
              </a:rPr>
              <a:t>vEctors</a:t>
            </a:r>
            <a:r>
              <a:rPr lang="en-US" sz="54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  <a:latin typeface="Algerian" pitchFamily="82" charset="0"/>
              </a:rPr>
              <a:t> of a matrix</a:t>
            </a:r>
            <a:endParaRPr lang="en-US" sz="5400" b="1" cap="none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  <a:latin typeface="Algerian" pitchFamily="8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6237312"/>
            <a:ext cx="9324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stellar" pitchFamily="18" charset="0"/>
              </a:rPr>
              <a:t>PRESENTATION BY: MOLLY ,SONALI AND SHUBHAM SINGLA</a:t>
            </a:r>
            <a:endParaRPr lang="en-IN" sz="2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Castellar" pitchFamily="18" charset="0"/>
            </a:endParaRPr>
          </a:p>
        </p:txBody>
      </p:sp>
      <p:pic>
        <p:nvPicPr>
          <p:cNvPr id="11268" name="Picture 4" descr="Image result for SCILAB LOGO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83768" y="3429000"/>
            <a:ext cx="3672408" cy="267580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F:\Project Pictures\chemistry\announcement-ppt-background-300x3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8" y="260648"/>
            <a:ext cx="3600400" cy="2140778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5868144" y="1340768"/>
            <a:ext cx="220765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 smtClean="0">
                <a:ln w="1905"/>
                <a:solidFill>
                  <a:srgbClr val="C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nprior" pitchFamily="2" charset="0"/>
              </a:rPr>
              <a:t>CONTENTS</a:t>
            </a:r>
            <a:endParaRPr lang="en-US" sz="2800" b="1" cap="none" spc="0" dirty="0">
              <a:ln w="1905"/>
              <a:solidFill>
                <a:srgbClr val="C0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nprior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1196752"/>
            <a:ext cx="8424936" cy="44012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nprior" pitchFamily="2" charset="0"/>
              </a:rPr>
              <a:t>Diagonalization</a:t>
            </a:r>
            <a:r>
              <a:rPr lang="en-US" sz="2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nprior" pitchFamily="2" charset="0"/>
              </a:rPr>
              <a:t> </a:t>
            </a:r>
          </a:p>
          <a:p>
            <a:r>
              <a:rPr lang="en-US" sz="2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nprior" pitchFamily="2" charset="0"/>
              </a:rPr>
              <a:t> of matrix</a:t>
            </a:r>
            <a:endParaRPr lang="en-US" sz="2800" b="1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nprior" pitchFamily="2" charset="0"/>
            </a:endParaRPr>
          </a:p>
          <a:p>
            <a:endParaRPr lang="en-US" sz="2800" b="1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nprior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nprior" pitchFamily="2" charset="0"/>
              </a:rPr>
              <a:t>Inverse of a matrix</a:t>
            </a:r>
            <a:endParaRPr lang="en-US" sz="2800" b="1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nprior" pitchFamily="2" charset="0"/>
            </a:endParaRPr>
          </a:p>
          <a:p>
            <a:endParaRPr lang="en-US" sz="2800" b="1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nprior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nprior" pitchFamily="2" charset="0"/>
              </a:rPr>
              <a:t>Eigen values and vectors of a matrix</a:t>
            </a:r>
            <a:endParaRPr lang="en-US" sz="2800" b="1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nprior" pitchFamily="2" charset="0"/>
            </a:endParaRPr>
          </a:p>
          <a:p>
            <a:endParaRPr lang="en-US" sz="2800" b="1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nprior" pitchFamily="2" charset="0"/>
            </a:endParaRPr>
          </a:p>
          <a:p>
            <a:endParaRPr lang="en-US" sz="2800" b="1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nprior" pitchFamily="2" charset="0"/>
            </a:endParaRPr>
          </a:p>
          <a:p>
            <a:endParaRPr lang="en-US" sz="2800" b="1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nprior" pitchFamily="2" charset="0"/>
            </a:endParaRPr>
          </a:p>
        </p:txBody>
      </p:sp>
      <p:sp>
        <p:nvSpPr>
          <p:cNvPr id="15362" name="AutoShape 2" descr="{\displaystyle y'(t)=f(t,y(t)),\qquad y(t_{0})=y_{0}.}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official ppt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900861" y="476672"/>
            <a:ext cx="6380272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lgerian" pitchFamily="82" charset="0"/>
              </a:rPr>
              <a:t>Diagonalization</a:t>
            </a:r>
            <a:r>
              <a:rPr lang="en-U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lgerian" pitchFamily="82" charset="0"/>
              </a:rPr>
              <a:t> </a:t>
            </a:r>
          </a:p>
          <a:p>
            <a:pPr algn="ctr"/>
            <a:r>
              <a:rPr lang="en-U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lgerian" pitchFamily="82" charset="0"/>
              </a:rPr>
              <a:t>of matrix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Algerian" pitchFamily="8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5536" y="2274838"/>
            <a:ext cx="806489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dirty="0" smtClean="0"/>
              <a:t>An </a:t>
            </a:r>
            <a:r>
              <a:rPr lang="en-US" sz="2400" dirty="0" err="1" smtClean="0"/>
              <a:t>n×n</a:t>
            </a:r>
            <a:r>
              <a:rPr lang="en-US" sz="2400" dirty="0" smtClean="0"/>
              <a:t> matrix </a:t>
            </a:r>
            <a:r>
              <a:rPr lang="en-US" sz="2400" b="1" dirty="0" smtClean="0"/>
              <a:t>A</a:t>
            </a:r>
            <a:r>
              <a:rPr lang="en-US" sz="2400" dirty="0" smtClean="0"/>
              <a:t> is said to 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diagonalizable</a:t>
            </a:r>
            <a:r>
              <a:rPr lang="en-US" sz="2400" dirty="0" smtClean="0"/>
              <a:t> if it is similar to a diagonal matrix ,that there exists an invertible matrix P such that P</a:t>
            </a:r>
            <a:r>
              <a:rPr lang="en-US" sz="2400" baseline="30000" dirty="0" smtClean="0"/>
              <a:t>^-1</a:t>
            </a:r>
            <a:r>
              <a:rPr lang="en-US" sz="2400" dirty="0" smtClean="0"/>
              <a:t> A P is a diagonal matrix where D is a diagonal </a:t>
            </a:r>
            <a:r>
              <a:rPr lang="en-US" sz="2400" dirty="0" err="1" smtClean="0"/>
              <a:t>n×n</a:t>
            </a:r>
            <a:r>
              <a:rPr lang="en-US" sz="2400" dirty="0" smtClean="0"/>
              <a:t> matrix with the </a:t>
            </a:r>
            <a:r>
              <a:rPr lang="en-US" sz="2400" dirty="0" err="1" smtClean="0"/>
              <a:t>eigenvalues</a:t>
            </a:r>
            <a:r>
              <a:rPr lang="en-US" sz="2400" dirty="0" smtClean="0"/>
              <a:t> of </a:t>
            </a:r>
            <a:r>
              <a:rPr lang="en-US" sz="2400" b="1" dirty="0" smtClean="0"/>
              <a:t>A </a:t>
            </a:r>
            <a:r>
              <a:rPr lang="en-US" sz="2400" dirty="0" smtClean="0"/>
              <a:t>as its entries, and P is a nonsingular </a:t>
            </a:r>
            <a:r>
              <a:rPr lang="en-US" sz="2400" dirty="0" err="1" smtClean="0"/>
              <a:t>n×n</a:t>
            </a:r>
            <a:r>
              <a:rPr lang="en-US" sz="2400" dirty="0" smtClean="0"/>
              <a:t> matrix consisting of the eigenvectors corresponding to the </a:t>
            </a:r>
            <a:r>
              <a:rPr lang="en-US" sz="2400" dirty="0" err="1" smtClean="0"/>
              <a:t>eigenvalues</a:t>
            </a:r>
            <a:r>
              <a:rPr lang="en-US" sz="2400" dirty="0" smtClean="0"/>
              <a:t> in D.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result for official ppt backgroun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395536" y="332656"/>
            <a:ext cx="394832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SCILAB PROGRAM</a:t>
            </a:r>
            <a:endParaRPr lang="en-US" sz="40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 t="8485" r="73162" b="70844"/>
          <a:stretch>
            <a:fillRect/>
          </a:stretch>
        </p:blipFill>
        <p:spPr bwMode="auto">
          <a:xfrm>
            <a:off x="0" y="908720"/>
            <a:ext cx="4988400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 l="27863" t="8657" r="32844" b="47047"/>
          <a:stretch>
            <a:fillRect/>
          </a:stretch>
        </p:blipFill>
        <p:spPr bwMode="auto">
          <a:xfrm>
            <a:off x="3162244" y="3068960"/>
            <a:ext cx="5637426" cy="3573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result for official ppt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570557" y="404664"/>
            <a:ext cx="66591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latin typeface="Algerian" pitchFamily="82" charset="0"/>
                <a:cs typeface="Arabic Typesetting" pitchFamily="66" charset="-78"/>
              </a:rPr>
              <a:t>Inverse of matrix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Algerian" pitchFamily="82" charset="0"/>
              <a:cs typeface="Arabic Typesetting" pitchFamily="66" charset="-78"/>
            </a:endParaRPr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251520" y="1916832"/>
            <a:ext cx="8496944" cy="269495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253920" tIns="3174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In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B0080"/>
                </a:solidFill>
                <a:effectLst/>
                <a:latin typeface="Arial" charset="0"/>
                <a:cs typeface="Arial" charset="0"/>
                <a:hlinkClick r:id="rId3" tooltip="Linear algebra"/>
              </a:rPr>
              <a:t>linear algebra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, an </a:t>
            </a: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-by-</a:t>
            </a: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B0080"/>
                </a:solidFill>
                <a:effectLst/>
                <a:latin typeface="Arial" charset="0"/>
                <a:cs typeface="Arial" charset="0"/>
                <a:hlinkClick r:id="rId4" tooltip="Square matrix"/>
              </a:rPr>
              <a:t>square matrix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A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 is called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invertible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 (also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nonsingular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 or 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nondegenerate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) if there exists an </a:t>
            </a: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-by-</a:t>
            </a: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 square matrix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B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 such that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 smtClean="0">
                <a:solidFill>
                  <a:srgbClr val="222222"/>
                </a:solidFill>
                <a:latin typeface="Arial" charset="0"/>
                <a:cs typeface="Arial" charset="0"/>
              </a:rPr>
              <a:t>AB=BA=I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457200" marR="0" lvl="1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  </a:t>
            </a:r>
            <a:endParaRPr kumimoji="0" lang="en-US" sz="4000" b="0" i="0" u="none" strike="noStrike" cap="none" normalizeH="0" baseline="0" dirty="0" smtClean="0">
              <a:ln>
                <a:noFill/>
              </a:ln>
              <a:solidFill>
                <a:srgbClr val="222222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where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I</a:t>
            </a:r>
            <a:r>
              <a:rPr kumimoji="0" lang="en-US" sz="1400" b="0" i="1" u="none" strike="noStrike" cap="none" normalizeH="0" baseline="-3000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 denotes the </a:t>
            </a: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-by-</a:t>
            </a: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B0080"/>
                </a:solidFill>
                <a:effectLst/>
                <a:latin typeface="Arial" charset="0"/>
                <a:cs typeface="Arial" charset="0"/>
                <a:hlinkClick r:id="rId5" tooltip="Identity matrix"/>
              </a:rPr>
              <a:t>identity matrix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 and the multiplication used is ordinary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B0080"/>
                </a:solidFill>
                <a:effectLst/>
                <a:latin typeface="Arial" charset="0"/>
                <a:cs typeface="Arial" charset="0"/>
                <a:hlinkClick r:id="rId6" tooltip="Matrix multiplication"/>
              </a:rPr>
              <a:t>matrix multiplication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. If this is the case, then the matrix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B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 is uniquely determined by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A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 and is called the </a:t>
            </a:r>
            <a:r>
              <a:rPr kumimoji="0" lang="en-US" b="1" i="1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inverse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 of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A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, denoted by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A</a:t>
            </a:r>
            <a:r>
              <a:rPr kumimoji="0" lang="en-US" sz="1400" b="0" i="0" u="none" strike="noStrike" cap="none" normalizeH="0" baseline="3000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−1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.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A square matrix that is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not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 invertible is called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charset="0"/>
                <a:cs typeface="Arial" charset="0"/>
              </a:rPr>
              <a:t>singular.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222222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171" name="AutoShape 3" descr="\mathbf {AB} =\mathbf {BA} =\mathbf {I} _{n}\ "/>
          <p:cNvSpPr>
            <a:spLocks noChangeAspect="1" noChangeArrowheads="1"/>
          </p:cNvSpPr>
          <p:nvPr/>
        </p:nvSpPr>
        <p:spPr bwMode="auto">
          <a:xfrm>
            <a:off x="28892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result for official ppt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0" y="332656"/>
            <a:ext cx="31974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SCILAB PROGRAM</a:t>
            </a:r>
            <a:endParaRPr lang="en-US" sz="32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 t="8485" r="72609" b="68875"/>
          <a:stretch>
            <a:fillRect/>
          </a:stretch>
        </p:blipFill>
        <p:spPr bwMode="auto">
          <a:xfrm>
            <a:off x="-1" y="836712"/>
            <a:ext cx="4958453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 l="27862" t="8657" r="32844" b="43109"/>
          <a:stretch>
            <a:fillRect/>
          </a:stretch>
        </p:blipFill>
        <p:spPr bwMode="auto">
          <a:xfrm>
            <a:off x="3499228" y="2924944"/>
            <a:ext cx="5321244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result for official ppt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0" y="908720"/>
            <a:ext cx="83375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baseline="3000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lgerian" pitchFamily="82" charset="0"/>
              </a:rPr>
              <a:t>Eigen values and vectors of a matrix</a:t>
            </a:r>
            <a:endParaRPr lang="en-US" sz="4800" b="1" baseline="3000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Algerian" pitchFamily="8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5536" y="1484784"/>
            <a:ext cx="784887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An eigenvector is a vector whose direction remains unchanged when a linear transformation is applied to it. </a:t>
            </a:r>
            <a:r>
              <a:rPr lang="en-IN" b="1" dirty="0" smtClean="0"/>
              <a:t> </a:t>
            </a:r>
            <a:endParaRPr lang="en-IN" b="1" dirty="0" smtClean="0"/>
          </a:p>
          <a:p>
            <a:pPr algn="ctr"/>
            <a:r>
              <a:rPr lang="en-IN" b="1" dirty="0" err="1" smtClean="0"/>
              <a:t>A</a:t>
            </a:r>
            <a:r>
              <a:rPr lang="en-IN" dirty="0" err="1" smtClean="0"/>
              <a:t>·</a:t>
            </a:r>
            <a:r>
              <a:rPr lang="en-IN" b="1" dirty="0" err="1" smtClean="0"/>
              <a:t>v</a:t>
            </a:r>
            <a:r>
              <a:rPr lang="en-IN" dirty="0" smtClean="0"/>
              <a:t>=</a:t>
            </a:r>
            <a:r>
              <a:rPr lang="en-IN" dirty="0" err="1" smtClean="0"/>
              <a:t>λ·</a:t>
            </a:r>
            <a:r>
              <a:rPr lang="en-IN" b="1" dirty="0" err="1" smtClean="0"/>
              <a:t>v</a:t>
            </a:r>
            <a:endParaRPr lang="en-IN" dirty="0" smtClean="0"/>
          </a:p>
          <a:p>
            <a:pPr algn="just"/>
            <a:r>
              <a:rPr lang="en-IN" dirty="0" smtClean="0"/>
              <a:t>In this equation </a:t>
            </a:r>
            <a:r>
              <a:rPr lang="en-IN" b="1" dirty="0" smtClean="0"/>
              <a:t>A</a:t>
            </a:r>
            <a:r>
              <a:rPr lang="en-IN" dirty="0" smtClean="0"/>
              <a:t> is an n-by-n matrix, </a:t>
            </a:r>
            <a:r>
              <a:rPr lang="en-IN" b="1" dirty="0" smtClean="0"/>
              <a:t>v</a:t>
            </a:r>
            <a:r>
              <a:rPr lang="en-IN" dirty="0" smtClean="0"/>
              <a:t> is a non-zero n-by-1 vector and λ is a scalar (which may be either real or complex).  Any value of λ for which this equation has a solution is known as an </a:t>
            </a:r>
            <a:r>
              <a:rPr lang="en-IN" dirty="0" err="1" smtClean="0"/>
              <a:t>eigenvalue</a:t>
            </a:r>
            <a:r>
              <a:rPr lang="en-IN" dirty="0" smtClean="0"/>
              <a:t> of the matrix </a:t>
            </a:r>
            <a:r>
              <a:rPr lang="en-IN" b="1" dirty="0" smtClean="0"/>
              <a:t>A</a:t>
            </a:r>
            <a:r>
              <a:rPr lang="en-IN" dirty="0" smtClean="0"/>
              <a:t>.  It is sometimes also called the characteristic value.  The vector, </a:t>
            </a:r>
            <a:r>
              <a:rPr lang="en-IN" b="1" dirty="0" smtClean="0"/>
              <a:t>v</a:t>
            </a:r>
            <a:r>
              <a:rPr lang="en-IN" dirty="0" smtClean="0"/>
              <a:t>, which corresponds to this value is called an eigenvector.  The </a:t>
            </a:r>
            <a:r>
              <a:rPr lang="en-IN" dirty="0" err="1" smtClean="0"/>
              <a:t>eigenvalue</a:t>
            </a:r>
            <a:r>
              <a:rPr lang="en-IN" dirty="0" smtClean="0"/>
              <a:t> problem can be rewritten as </a:t>
            </a:r>
          </a:p>
          <a:p>
            <a:pPr algn="ctr"/>
            <a:r>
              <a:rPr lang="en-IN" b="1" dirty="0" err="1" smtClean="0"/>
              <a:t>A</a:t>
            </a:r>
            <a:r>
              <a:rPr lang="en-IN" dirty="0" err="1" smtClean="0"/>
              <a:t>·</a:t>
            </a:r>
            <a:r>
              <a:rPr lang="en-IN" b="1" dirty="0" err="1" smtClean="0"/>
              <a:t>v</a:t>
            </a:r>
            <a:r>
              <a:rPr lang="en-IN" dirty="0" err="1" smtClean="0"/>
              <a:t>-λ·</a:t>
            </a:r>
            <a:r>
              <a:rPr lang="en-IN" b="1" dirty="0" err="1" smtClean="0"/>
              <a:t>v</a:t>
            </a:r>
            <a:r>
              <a:rPr lang="en-IN" dirty="0" smtClean="0"/>
              <a:t>=0</a:t>
            </a:r>
            <a:br>
              <a:rPr lang="en-IN" dirty="0" smtClean="0"/>
            </a:br>
            <a:r>
              <a:rPr lang="en-IN" b="1" dirty="0" err="1" smtClean="0"/>
              <a:t>A</a:t>
            </a:r>
            <a:r>
              <a:rPr lang="en-IN" dirty="0" err="1" smtClean="0"/>
              <a:t>·</a:t>
            </a:r>
            <a:r>
              <a:rPr lang="en-IN" b="1" dirty="0" err="1" smtClean="0"/>
              <a:t>v</a:t>
            </a:r>
            <a:r>
              <a:rPr lang="en-IN" dirty="0" err="1" smtClean="0"/>
              <a:t>-λ·</a:t>
            </a:r>
            <a:r>
              <a:rPr lang="en-IN" b="1" dirty="0" err="1" smtClean="0"/>
              <a:t>I</a:t>
            </a:r>
            <a:r>
              <a:rPr lang="en-IN" dirty="0" err="1" smtClean="0"/>
              <a:t>·</a:t>
            </a:r>
            <a:r>
              <a:rPr lang="en-IN" b="1" dirty="0" err="1" smtClean="0"/>
              <a:t>v</a:t>
            </a:r>
            <a:r>
              <a:rPr lang="en-IN" dirty="0" smtClean="0"/>
              <a:t>=0</a:t>
            </a:r>
            <a:br>
              <a:rPr lang="en-IN" dirty="0" smtClean="0"/>
            </a:br>
            <a:r>
              <a:rPr lang="en-IN" dirty="0" smtClean="0"/>
              <a:t>(</a:t>
            </a:r>
            <a:r>
              <a:rPr lang="en-IN" b="1" dirty="0" smtClean="0"/>
              <a:t>A</a:t>
            </a:r>
            <a:r>
              <a:rPr lang="en-IN" dirty="0" smtClean="0"/>
              <a:t>-</a:t>
            </a:r>
            <a:r>
              <a:rPr lang="en-IN" dirty="0" err="1" smtClean="0"/>
              <a:t>λ·</a:t>
            </a:r>
            <a:r>
              <a:rPr lang="en-IN" b="1" dirty="0" err="1" smtClean="0"/>
              <a:t>I</a:t>
            </a:r>
            <a:r>
              <a:rPr lang="en-IN" dirty="0" smtClean="0"/>
              <a:t>)·</a:t>
            </a:r>
            <a:r>
              <a:rPr lang="en-IN" b="1" dirty="0" smtClean="0"/>
              <a:t>v</a:t>
            </a:r>
            <a:r>
              <a:rPr lang="en-IN" dirty="0" smtClean="0"/>
              <a:t>=0</a:t>
            </a:r>
            <a:br>
              <a:rPr lang="en-IN" dirty="0" smtClean="0"/>
            </a:br>
            <a:endParaRPr lang="en-IN" dirty="0" smtClean="0"/>
          </a:p>
          <a:p>
            <a:r>
              <a:rPr lang="en-IN" dirty="0" smtClean="0"/>
              <a:t>If </a:t>
            </a:r>
            <a:r>
              <a:rPr lang="en-IN" b="1" dirty="0" smtClean="0"/>
              <a:t>v</a:t>
            </a:r>
            <a:r>
              <a:rPr lang="en-IN" dirty="0" smtClean="0"/>
              <a:t> is non-zero, this equation will only have a solution if </a:t>
            </a:r>
          </a:p>
          <a:p>
            <a:pPr algn="ctr"/>
            <a:r>
              <a:rPr lang="en-IN" dirty="0" smtClean="0"/>
              <a:t>|</a:t>
            </a:r>
            <a:r>
              <a:rPr lang="en-IN" b="1" dirty="0" smtClean="0"/>
              <a:t>A</a:t>
            </a:r>
            <a:r>
              <a:rPr lang="en-IN" dirty="0" smtClean="0"/>
              <a:t>-</a:t>
            </a:r>
            <a:r>
              <a:rPr lang="en-IN" dirty="0" err="1" smtClean="0"/>
              <a:t>λ·</a:t>
            </a:r>
            <a:r>
              <a:rPr lang="en-IN" b="1" dirty="0" err="1" smtClean="0"/>
              <a:t>I</a:t>
            </a:r>
            <a:r>
              <a:rPr lang="en-IN" dirty="0" smtClean="0"/>
              <a:t>|=0</a:t>
            </a:r>
            <a:br>
              <a:rPr lang="en-IN" dirty="0" smtClean="0"/>
            </a:br>
            <a:endParaRPr lang="en-IN" dirty="0" smtClean="0"/>
          </a:p>
          <a:p>
            <a:r>
              <a:rPr lang="en-IN" dirty="0" smtClean="0"/>
              <a:t>This equation is called the characteristic equation of </a:t>
            </a:r>
            <a:r>
              <a:rPr lang="en-IN" b="1" dirty="0" smtClean="0"/>
              <a:t>A</a:t>
            </a:r>
            <a:r>
              <a:rPr lang="en-IN" dirty="0" smtClean="0"/>
              <a:t>, and is an n</a:t>
            </a:r>
            <a:r>
              <a:rPr lang="en-IN" baseline="30000" dirty="0" smtClean="0"/>
              <a:t>th</a:t>
            </a:r>
            <a:r>
              <a:rPr lang="en-IN" dirty="0" smtClean="0"/>
              <a:t> order polynomial in λ with n roots.  These roots are called the </a:t>
            </a:r>
            <a:r>
              <a:rPr lang="en-IN" dirty="0" err="1" smtClean="0"/>
              <a:t>eigenvalues</a:t>
            </a:r>
            <a:r>
              <a:rPr lang="en-IN" dirty="0" smtClean="0"/>
              <a:t> of </a:t>
            </a:r>
            <a:r>
              <a:rPr lang="en-IN" b="1" dirty="0" smtClean="0"/>
              <a:t>A</a:t>
            </a:r>
            <a:r>
              <a:rPr lang="en-IN" dirty="0" smtClean="0"/>
              <a:t>.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result for official ppt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79512" y="332656"/>
            <a:ext cx="28196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SCILAB PROGRAM</a:t>
            </a:r>
            <a:endParaRPr lang="en-US" sz="28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 l="27944" t="8485" r="33315" b="51156"/>
          <a:stretch>
            <a:fillRect/>
          </a:stretch>
        </p:blipFill>
        <p:spPr bwMode="auto">
          <a:xfrm>
            <a:off x="3131840" y="3212976"/>
            <a:ext cx="5690855" cy="3333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 t="8657" r="77672" b="66734"/>
          <a:stretch>
            <a:fillRect/>
          </a:stretch>
        </p:blipFill>
        <p:spPr bwMode="auto">
          <a:xfrm>
            <a:off x="0" y="836712"/>
            <a:ext cx="4067944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result for official ppt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 l="27944" t="8485" r="33315" b="23594"/>
          <a:stretch>
            <a:fillRect/>
          </a:stretch>
        </p:blipFill>
        <p:spPr bwMode="auto">
          <a:xfrm>
            <a:off x="3851920" y="1484784"/>
            <a:ext cx="5040560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 t="8657" r="70477" b="62797"/>
          <a:stretch>
            <a:fillRect/>
          </a:stretch>
        </p:blipFill>
        <p:spPr bwMode="auto">
          <a:xfrm>
            <a:off x="0" y="764704"/>
            <a:ext cx="3841279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1520" y="2348880"/>
            <a:ext cx="8640960" cy="18620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 prst="angle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11500" b="1" dirty="0" smtClean="0">
                <a:ln w="11430"/>
                <a:solidFill>
                  <a:sysClr val="windowText" lastClr="000000"/>
                </a:solidFill>
                <a:effectLst/>
                <a:latin typeface="Algerian" pitchFamily="82" charset="0"/>
              </a:rPr>
              <a:t>THANK</a:t>
            </a:r>
            <a:r>
              <a:rPr lang="en-US" sz="11500" b="1" dirty="0" smtClean="0">
                <a:ln w="11430"/>
                <a:solidFill>
                  <a:sysClr val="windowText" lastClr="00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  <a:reflection blurRad="6350" stA="55000" endA="50" endPos="85000" dir="5400000" sy="-100000" algn="bl" rotWithShape="0"/>
                </a:effectLst>
                <a:latin typeface="Algerian" pitchFamily="82" charset="0"/>
              </a:rPr>
              <a:t> </a:t>
            </a:r>
            <a:r>
              <a:rPr lang="en-US" sz="11500" b="1" dirty="0" smtClean="0">
                <a:ln w="11430"/>
                <a:solidFill>
                  <a:sysClr val="windowText" lastClr="00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lgerian" pitchFamily="82" charset="0"/>
              </a:rPr>
              <a:t>YOU</a:t>
            </a:r>
            <a:endParaRPr lang="en-US" sz="11500" b="1" cap="none" spc="0" dirty="0">
              <a:ln w="11430"/>
              <a:solidFill>
                <a:sysClr val="windowText" lastClr="00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9493248</TotalTime>
  <Words>146</Words>
  <Application>Microsoft Office PowerPoint</Application>
  <PresentationFormat>On-screen Show (4:3)</PresentationFormat>
  <Paragraphs>32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dell</cp:lastModifiedBy>
  <cp:revision>105</cp:revision>
  <dcterms:created xsi:type="dcterms:W3CDTF">2018-08-25T00:06:34Z</dcterms:created>
  <dcterms:modified xsi:type="dcterms:W3CDTF">2018-10-30T19:32:55Z</dcterms:modified>
</cp:coreProperties>
</file>