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5" r:id="rId1"/>
  </p:sldMasterIdLst>
  <p:sldIdLst>
    <p:sldId id="256" r:id="rId2"/>
    <p:sldId id="260" r:id="rId3"/>
    <p:sldId id="261" r:id="rId4"/>
    <p:sldId id="262" r:id="rId5"/>
    <p:sldId id="281" r:id="rId6"/>
    <p:sldId id="274" r:id="rId7"/>
    <p:sldId id="277" r:id="rId8"/>
    <p:sldId id="278" r:id="rId9"/>
    <p:sldId id="271" r:id="rId10"/>
    <p:sldId id="290" r:id="rId11"/>
    <p:sldId id="264" r:id="rId12"/>
    <p:sldId id="270" r:id="rId13"/>
    <p:sldId id="286" r:id="rId14"/>
    <p:sldId id="267" r:id="rId15"/>
    <p:sldId id="268" r:id="rId16"/>
    <p:sldId id="269" r:id="rId17"/>
    <p:sldId id="283" r:id="rId18"/>
    <p:sldId id="287" r:id="rId19"/>
    <p:sldId id="288" r:id="rId20"/>
    <p:sldId id="289" r:id="rId21"/>
    <p:sldId id="293" r:id="rId22"/>
    <p:sldId id="294" r:id="rId23"/>
    <p:sldId id="292" r:id="rId24"/>
    <p:sldId id="280" r:id="rId25"/>
    <p:sldId id="29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666189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174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90325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043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06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591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089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8978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0472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686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41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880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mathworld.wolfram.com/MatrixEquation.html" TargetMode="External"/><Relationship Id="rId2" Type="http://schemas.openxmlformats.org/officeDocument/2006/relationships/hyperlink" Target="http://mathworld.wolfram.com/LinearSystemofEquations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hyperlink" Target="http://www.mathwords.com/m/matrix_multiplication.htm" TargetMode="External"/><Relationship Id="rId7" Type="http://schemas.openxmlformats.org/officeDocument/2006/relationships/hyperlink" Target="http://www.mathwords.com/c/cofactor_matrix.htm" TargetMode="External"/><Relationship Id="rId2" Type="http://schemas.openxmlformats.org/officeDocument/2006/relationships/hyperlink" Target="http://www.mathwords.com/s/square_matrix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athwords.com/s/singular_matrix.htm" TargetMode="External"/><Relationship Id="rId5" Type="http://schemas.openxmlformats.org/officeDocument/2006/relationships/hyperlink" Target="http://www.mathwords.com/i/invertible_matrix.htm" TargetMode="External"/><Relationship Id="rId4" Type="http://schemas.openxmlformats.org/officeDocument/2006/relationships/hyperlink" Target="http://www.mathwords.com/i/identity_matrix.ht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mathworld.wolfram.com/OftheForm.html" TargetMode="External"/><Relationship Id="rId2" Type="http://schemas.openxmlformats.org/officeDocument/2006/relationships/hyperlink" Target="http://mathworld.wolfram.com/MatrixEquation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gif"/><Relationship Id="rId5" Type="http://schemas.openxmlformats.org/officeDocument/2006/relationships/hyperlink" Target="http://mathworld.wolfram.com/AugmentedMatrix.html" TargetMode="External"/><Relationship Id="rId4" Type="http://schemas.openxmlformats.org/officeDocument/2006/relationships/image" Target="../media/image6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61375" y="2331077"/>
            <a:ext cx="3155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TOPICS</a:t>
            </a:r>
            <a:endParaRPr lang="en-US" sz="36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61375" y="3103809"/>
            <a:ext cx="875763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Eigen values and Eigen Vectors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Inverse </a:t>
            </a:r>
            <a:r>
              <a:rPr lang="en-US" sz="2400" dirty="0"/>
              <a:t>of </a:t>
            </a:r>
            <a:r>
              <a:rPr lang="en-US" sz="2400" dirty="0" smtClean="0"/>
              <a:t>Matrix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Diagonalisation of </a:t>
            </a:r>
            <a:r>
              <a:rPr lang="en-US" sz="2400" dirty="0" smtClean="0"/>
              <a:t>Matrices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Gauss Elimination Method using </a:t>
            </a:r>
            <a:r>
              <a:rPr lang="en-US" sz="2400" dirty="0" smtClean="0"/>
              <a:t>Matrices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Mesh </a:t>
            </a:r>
            <a:r>
              <a:rPr lang="en-US" sz="2400" dirty="0" smtClean="0"/>
              <a:t>Analysis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Gauss </a:t>
            </a:r>
            <a:r>
              <a:rPr lang="en-US" sz="2400" dirty="0" smtClean="0"/>
              <a:t>Seidel Method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Coupled Mass Oscillator</a:t>
            </a:r>
            <a:endParaRPr lang="en-US" sz="2400" dirty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43200" y="1017432"/>
            <a:ext cx="6323527" cy="13136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defTabSz="914400">
              <a:lnSpc>
                <a:spcPct val="89000"/>
              </a:lnSpc>
              <a:spcBef>
                <a:spcPct val="0"/>
              </a:spcBef>
              <a:buNone/>
              <a:defRPr sz="44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u="sng" dirty="0">
                <a:latin typeface="Arial Black" panose="020B0A04020102020204" pitchFamily="34" charset="0"/>
              </a:rPr>
              <a:t>SCILAB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2080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SCILAB +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168" y="2305318"/>
            <a:ext cx="8915400" cy="390211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Free and open source, user friendly numerical and computational package</a:t>
            </a:r>
          </a:p>
          <a:p>
            <a:r>
              <a:rPr lang="en-US" sz="2000" dirty="0" smtClean="0"/>
              <a:t>Available for various operating systems like Windows, Linux and Mac OS/X</a:t>
            </a:r>
          </a:p>
          <a:p>
            <a:r>
              <a:rPr lang="en-US" sz="2000" dirty="0" smtClean="0"/>
              <a:t>Users can see and modify the source code </a:t>
            </a:r>
          </a:p>
          <a:p>
            <a:pPr marL="0" indent="0">
              <a:buNone/>
            </a:pPr>
            <a:r>
              <a:rPr lang="en-US" sz="2000" dirty="0" smtClean="0"/>
              <a:t>It can perform multiple operations like:</a:t>
            </a:r>
          </a:p>
          <a:p>
            <a:r>
              <a:rPr lang="en-US" dirty="0"/>
              <a:t>Matrix Operations</a:t>
            </a:r>
          </a:p>
          <a:p>
            <a:r>
              <a:rPr lang="en-US" dirty="0"/>
              <a:t>Audio and Video Processing(SIVP)</a:t>
            </a:r>
          </a:p>
          <a:p>
            <a:r>
              <a:rPr lang="en-US" dirty="0"/>
              <a:t>2D and 3D </a:t>
            </a:r>
            <a:r>
              <a:rPr lang="en-US" dirty="0" smtClean="0"/>
              <a:t>plotting</a:t>
            </a:r>
          </a:p>
          <a:p>
            <a:r>
              <a:rPr lang="en-US" dirty="0"/>
              <a:t>It is used in private industries, by entrepreneurs, defense establishments, research organizations and individual users.</a:t>
            </a:r>
          </a:p>
          <a:p>
            <a:endParaRPr lang="en-US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5797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BASICS OF MATRICES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00389"/>
            <a:ext cx="8915400" cy="403538"/>
          </a:xfrm>
        </p:spPr>
        <p:txBody>
          <a:bodyPr>
            <a:normAutofit/>
          </a:bodyPr>
          <a:lstStyle/>
          <a:p>
            <a:r>
              <a:rPr lang="en-US" dirty="0" smtClean="0"/>
              <a:t>In Scilab, a matrix is presented in the following way: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12" y="2036401"/>
            <a:ext cx="3039704" cy="4821599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4675031" y="3309870"/>
            <a:ext cx="2371881" cy="1931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4675029" y="4714740"/>
            <a:ext cx="2371881" cy="1931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4675030" y="6203324"/>
            <a:ext cx="2371881" cy="1931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714445" y="3142445"/>
            <a:ext cx="364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Row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4444" y="4530074"/>
            <a:ext cx="364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Column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4445" y="6115249"/>
            <a:ext cx="364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3x3 Matrix</a:t>
            </a:r>
          </a:p>
        </p:txBody>
      </p:sp>
    </p:spTree>
    <p:extLst>
      <p:ext uri="{BB962C8B-B14F-4D97-AF65-F5344CB8AC3E}">
        <p14:creationId xmlns:p14="http://schemas.microsoft.com/office/powerpoint/2010/main" val="273802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EIGEN VALUES AND EIGEN VECTORS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905000"/>
            <a:ext cx="9178366" cy="4730842"/>
          </a:xfrm>
        </p:spPr>
        <p:txBody>
          <a:bodyPr>
            <a:normAutofit fontScale="92500" lnSpcReduction="10000"/>
          </a:bodyPr>
          <a:lstStyle/>
          <a:p>
            <a:r>
              <a:rPr lang="en-US" sz="2100" dirty="0"/>
              <a:t>Eigenvalues are a special set of scalars associated with a </a:t>
            </a:r>
            <a:r>
              <a:rPr lang="en-US" sz="2100" dirty="0">
                <a:hlinkClick r:id="rId2"/>
              </a:rPr>
              <a:t>linear system of equations</a:t>
            </a:r>
            <a:r>
              <a:rPr lang="en-US" sz="2100" dirty="0"/>
              <a:t> (i.e., a </a:t>
            </a:r>
            <a:r>
              <a:rPr lang="en-US" sz="2100" dirty="0">
                <a:hlinkClick r:id="rId3"/>
              </a:rPr>
              <a:t>matrix equation</a:t>
            </a:r>
            <a:r>
              <a:rPr lang="en-US" dirty="0"/>
              <a:t>) that are sometimes also known as characteristic roots, characteristic </a:t>
            </a:r>
            <a:r>
              <a:rPr lang="en-US" dirty="0" smtClean="0"/>
              <a:t>values.</a:t>
            </a:r>
          </a:p>
          <a:p>
            <a:r>
              <a:rPr lang="en-US" dirty="0" smtClean="0"/>
              <a:t>Its common </a:t>
            </a:r>
            <a:r>
              <a:rPr lang="en-US" dirty="0"/>
              <a:t>applications </a:t>
            </a:r>
            <a:r>
              <a:rPr lang="en-US" dirty="0" smtClean="0"/>
              <a:t>in physics are as </a:t>
            </a:r>
            <a:r>
              <a:rPr lang="en-US" dirty="0"/>
              <a:t>stability analysis, the physics of rotating bodies, and small oscillations of vibrating </a:t>
            </a:r>
            <a:r>
              <a:rPr lang="en-US" dirty="0" smtClean="0"/>
              <a:t>systems.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2000" b="1" u="sng" dirty="0" smtClean="0"/>
              <a:t>Mathematical Explanation</a:t>
            </a:r>
          </a:p>
          <a:p>
            <a:pPr marL="0" indent="0">
              <a:buNone/>
            </a:pPr>
            <a:r>
              <a:rPr lang="en-US" dirty="0" smtClean="0"/>
              <a:t>Almost </a:t>
            </a:r>
            <a:r>
              <a:rPr lang="en-US" dirty="0"/>
              <a:t>all vectors change direction, when they are multiplied by A. Certain exceptional vectors x are in the same direction as </a:t>
            </a:r>
            <a:r>
              <a:rPr lang="en-US" b="1" dirty="0" smtClean="0"/>
              <a:t>AX</a:t>
            </a:r>
            <a:r>
              <a:rPr lang="en-US" dirty="0" smtClean="0"/>
              <a:t>. </a:t>
            </a:r>
            <a:r>
              <a:rPr lang="en-US" dirty="0"/>
              <a:t>Those are the “eigenvectors”. Multiply an eigenvector by A, and the vector Ax is a </a:t>
            </a:r>
            <a:r>
              <a:rPr lang="en-US" dirty="0" smtClean="0"/>
              <a:t>number </a:t>
            </a:r>
            <a:r>
              <a:rPr lang="el-GR" b="1" dirty="0"/>
              <a:t>λ</a:t>
            </a:r>
            <a:r>
              <a:rPr lang="en-US" dirty="0" smtClean="0"/>
              <a:t> </a:t>
            </a:r>
            <a:r>
              <a:rPr lang="en-US" dirty="0"/>
              <a:t>times the original x. </a:t>
            </a:r>
          </a:p>
          <a:p>
            <a:pPr marL="0" indent="0" algn="ctr">
              <a:buNone/>
            </a:pPr>
            <a:r>
              <a:rPr lang="en-US" dirty="0" smtClean="0"/>
              <a:t>The </a:t>
            </a:r>
            <a:r>
              <a:rPr lang="en-US" dirty="0"/>
              <a:t>basic equation is </a:t>
            </a:r>
            <a:r>
              <a:rPr lang="en-US" b="1" dirty="0" smtClean="0"/>
              <a:t>Ax=</a:t>
            </a:r>
            <a:r>
              <a:rPr lang="el-GR" b="1" dirty="0"/>
              <a:t>λ</a:t>
            </a:r>
            <a:r>
              <a:rPr lang="en-US" b="1" dirty="0" smtClean="0"/>
              <a:t>x</a:t>
            </a:r>
            <a:r>
              <a:rPr lang="en-US" dirty="0"/>
              <a:t>. 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smtClean="0"/>
              <a:t>(A-</a:t>
            </a:r>
            <a:r>
              <a:rPr lang="el-GR" b="1" dirty="0" smtClean="0"/>
              <a:t> λ</a:t>
            </a:r>
            <a:r>
              <a:rPr lang="en-US" b="1" dirty="0" smtClean="0"/>
              <a:t>I)X=0</a:t>
            </a:r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number </a:t>
            </a:r>
            <a:r>
              <a:rPr lang="el-GR" b="1" dirty="0" smtClean="0"/>
              <a:t>λ</a:t>
            </a:r>
            <a:r>
              <a:rPr lang="en-US" b="1" dirty="0" smtClean="0"/>
              <a:t> </a:t>
            </a:r>
            <a:r>
              <a:rPr lang="en-US" dirty="0" smtClean="0"/>
              <a:t>is </a:t>
            </a:r>
            <a:r>
              <a:rPr lang="en-US" dirty="0"/>
              <a:t>an eigenvalue of A. The eigenvalue </a:t>
            </a:r>
            <a:r>
              <a:rPr lang="el-GR" b="1" dirty="0"/>
              <a:t>λ </a:t>
            </a:r>
            <a:r>
              <a:rPr lang="en-US" dirty="0" smtClean="0"/>
              <a:t>tells </a:t>
            </a:r>
            <a:r>
              <a:rPr lang="en-US" dirty="0"/>
              <a:t>whether the special vector x is stretched or shrunk or reversed or left unchanged—when it is multiplied by A.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5002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599" y="2372231"/>
            <a:ext cx="4756488" cy="4166316"/>
          </a:xfrm>
        </p:spPr>
        <p:txBody>
          <a:bodyPr>
            <a:normAutofit/>
          </a:bodyPr>
          <a:lstStyle/>
          <a:p>
            <a:r>
              <a:rPr lang="en-US" sz="1800" dirty="0" smtClean="0"/>
              <a:t>Expanding the determinant,</a:t>
            </a:r>
          </a:p>
          <a:p>
            <a:pPr marL="0" indent="0">
              <a:buNone/>
            </a:pPr>
            <a:r>
              <a:rPr lang="en-US" sz="1600" dirty="0"/>
              <a:t>(-2-</a:t>
            </a:r>
            <a:r>
              <a:rPr lang="el-GR" sz="1600" dirty="0"/>
              <a:t> λ</a:t>
            </a:r>
            <a:r>
              <a:rPr lang="en-US" sz="1600" dirty="0"/>
              <a:t>)[(1-</a:t>
            </a:r>
            <a:r>
              <a:rPr lang="el-GR" sz="1600" dirty="0"/>
              <a:t> λ</a:t>
            </a:r>
            <a:r>
              <a:rPr lang="en-US" sz="1600" dirty="0"/>
              <a:t>)(5-</a:t>
            </a:r>
            <a:r>
              <a:rPr lang="el-GR" sz="1600" dirty="0"/>
              <a:t> λ</a:t>
            </a:r>
            <a:r>
              <a:rPr lang="en-US" sz="1600" dirty="0"/>
              <a:t>)-4]+4[(-2)(5-</a:t>
            </a:r>
            <a:r>
              <a:rPr lang="el-GR" sz="1600" dirty="0"/>
              <a:t> λ</a:t>
            </a:r>
            <a:r>
              <a:rPr lang="en-US" sz="1600" dirty="0"/>
              <a:t>)-8]+2[(-4)-4(1-</a:t>
            </a:r>
            <a:r>
              <a:rPr lang="el-GR" sz="1600" dirty="0"/>
              <a:t> λ</a:t>
            </a:r>
            <a:r>
              <a:rPr lang="en-US" sz="1600" dirty="0"/>
              <a:t>)]=</a:t>
            </a:r>
            <a:r>
              <a:rPr lang="en-US" sz="1600" dirty="0" smtClean="0"/>
              <a:t>0</a:t>
            </a:r>
          </a:p>
          <a:p>
            <a:r>
              <a:rPr lang="en-US" sz="1800" dirty="0" smtClean="0"/>
              <a:t>On solving, we get values of </a:t>
            </a:r>
            <a:r>
              <a:rPr lang="el-GR" sz="1800" dirty="0" smtClean="0"/>
              <a:t>λ</a:t>
            </a:r>
            <a:r>
              <a:rPr lang="en-US" sz="1800" dirty="0" smtClean="0"/>
              <a:t> as 3, -5 and 6 which are known as eigen values of matrix A.</a:t>
            </a:r>
          </a:p>
          <a:p>
            <a:r>
              <a:rPr lang="en-US" sz="1800" dirty="0" smtClean="0"/>
              <a:t>We now solve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800" dirty="0" smtClean="0"/>
              <a:t>                                                       =0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For each eigen value i.e. 3,-5 and 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7714" y="2433863"/>
            <a:ext cx="4447786" cy="3581401"/>
          </a:xfrm>
        </p:spPr>
        <p:txBody>
          <a:bodyPr>
            <a:normAutofit/>
          </a:bodyPr>
          <a:lstStyle/>
          <a:p>
            <a:r>
              <a:rPr lang="en-US" sz="1800" dirty="0"/>
              <a:t>Every such system will have infinitely many solutions</a:t>
            </a:r>
          </a:p>
          <a:p>
            <a:r>
              <a:rPr lang="en-US" sz="1800" dirty="0"/>
              <a:t>We will try to find eigen vectors by keeping the simplest values of x, y and z i.e. =1</a:t>
            </a:r>
          </a:p>
          <a:p>
            <a:r>
              <a:rPr lang="en-US" sz="1800" dirty="0"/>
              <a:t>On replacing </a:t>
            </a:r>
            <a:r>
              <a:rPr lang="el-GR" sz="1800" dirty="0"/>
              <a:t>λ</a:t>
            </a:r>
            <a:r>
              <a:rPr lang="en-US" sz="1800" dirty="0"/>
              <a:t> with each eigen value, we get different sets of eigen </a:t>
            </a:r>
            <a:r>
              <a:rPr lang="en-US" sz="1800" dirty="0" smtClean="0"/>
              <a:t>vectors.</a:t>
            </a:r>
            <a:endParaRPr lang="en-US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71600" y="695459"/>
            <a:ext cx="4604197" cy="1429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EXAMPLE</a:t>
            </a:r>
          </a:p>
          <a:p>
            <a:pPr marL="0" indent="0">
              <a:buFont typeface="Franklin Gothic Book" panose="020B0503020102020204" pitchFamily="34" charset="0"/>
              <a:buNone/>
            </a:pPr>
            <a:r>
              <a:rPr lang="en-US" dirty="0" smtClean="0"/>
              <a:t>Consider a matrix A =  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134118" y="875764"/>
            <a:ext cx="18159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-2       -4          2</a:t>
            </a:r>
          </a:p>
          <a:p>
            <a:r>
              <a:rPr lang="en-US" dirty="0" smtClean="0"/>
              <a:t>-2        1          2</a:t>
            </a:r>
          </a:p>
          <a:p>
            <a:r>
              <a:rPr lang="en-US" dirty="0"/>
              <a:t>4</a:t>
            </a:r>
            <a:r>
              <a:rPr lang="en-US" dirty="0" smtClean="0"/>
              <a:t>         2          </a:t>
            </a:r>
            <a:r>
              <a:rPr lang="en-US" dirty="0"/>
              <a:t>5</a:t>
            </a:r>
            <a:endParaRPr lang="en-US" dirty="0" smtClean="0"/>
          </a:p>
          <a:p>
            <a:pPr marL="342900" indent="-342900">
              <a:buAutoNum type="arabicPlain"/>
            </a:pPr>
            <a:endParaRPr lang="en-US" dirty="0" smtClean="0"/>
          </a:p>
          <a:p>
            <a:pPr marL="342900" indent="-342900">
              <a:buAutoNum type="arabicPlain"/>
            </a:pPr>
            <a:endParaRPr lang="en-US" dirty="0"/>
          </a:p>
        </p:txBody>
      </p:sp>
      <p:sp>
        <p:nvSpPr>
          <p:cNvPr id="8" name="Double Bracket 7"/>
          <p:cNvSpPr/>
          <p:nvPr/>
        </p:nvSpPr>
        <p:spPr>
          <a:xfrm>
            <a:off x="3966693" y="862885"/>
            <a:ext cx="2009104" cy="1120461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362164" y="695458"/>
            <a:ext cx="47394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From previous slide, the characteristic eqn is:</a:t>
            </a:r>
          </a:p>
          <a:p>
            <a:r>
              <a:rPr lang="en-US" dirty="0" smtClean="0"/>
              <a:t>          </a:t>
            </a:r>
          </a:p>
          <a:p>
            <a:r>
              <a:rPr lang="en-US" dirty="0"/>
              <a:t> </a:t>
            </a:r>
            <a:r>
              <a:rPr lang="en-US" dirty="0" smtClean="0"/>
              <a:t>           det                                        = 0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506517" y="1125863"/>
            <a:ext cx="20882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-2-</a:t>
            </a:r>
            <a:r>
              <a:rPr lang="el-GR" b="1" dirty="0"/>
              <a:t> </a:t>
            </a:r>
            <a:r>
              <a:rPr lang="el-GR" dirty="0"/>
              <a:t>λ</a:t>
            </a:r>
            <a:r>
              <a:rPr lang="en-US" dirty="0" smtClean="0"/>
              <a:t>       -4          2</a:t>
            </a:r>
          </a:p>
          <a:p>
            <a:r>
              <a:rPr lang="en-US" dirty="0" smtClean="0"/>
              <a:t>-2        1-</a:t>
            </a:r>
            <a:r>
              <a:rPr lang="el-GR" b="1" dirty="0"/>
              <a:t> </a:t>
            </a:r>
            <a:r>
              <a:rPr lang="el-GR" dirty="0"/>
              <a:t>λ</a:t>
            </a:r>
            <a:r>
              <a:rPr lang="en-US" dirty="0" smtClean="0"/>
              <a:t>          2</a:t>
            </a:r>
          </a:p>
          <a:p>
            <a:r>
              <a:rPr lang="en-US" dirty="0"/>
              <a:t>4</a:t>
            </a:r>
            <a:r>
              <a:rPr lang="en-US" dirty="0" smtClean="0"/>
              <a:t>           2          5-</a:t>
            </a:r>
            <a:r>
              <a:rPr lang="el-GR" b="1" dirty="0"/>
              <a:t> </a:t>
            </a:r>
            <a:r>
              <a:rPr lang="el-GR" dirty="0"/>
              <a:t>λ</a:t>
            </a:r>
            <a:endParaRPr lang="en-US" dirty="0" smtClean="0"/>
          </a:p>
          <a:p>
            <a:pPr marL="342900" indent="-342900">
              <a:buAutoNum type="arabicPlain"/>
            </a:pPr>
            <a:endParaRPr lang="en-US" dirty="0" smtClean="0"/>
          </a:p>
          <a:p>
            <a:pPr marL="342900" indent="-342900">
              <a:buAutoNum type="arabicPlain"/>
            </a:pPr>
            <a:endParaRPr lang="en-US" dirty="0"/>
          </a:p>
        </p:txBody>
      </p:sp>
      <p:sp>
        <p:nvSpPr>
          <p:cNvPr id="9" name="Double Bracket 8"/>
          <p:cNvSpPr/>
          <p:nvPr/>
        </p:nvSpPr>
        <p:spPr>
          <a:xfrm>
            <a:off x="7506518" y="1028164"/>
            <a:ext cx="2088242" cy="1082101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878450" y="4390072"/>
            <a:ext cx="20882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-2-</a:t>
            </a:r>
            <a:r>
              <a:rPr lang="el-GR" b="1" dirty="0"/>
              <a:t> </a:t>
            </a:r>
            <a:r>
              <a:rPr lang="el-GR" dirty="0"/>
              <a:t>λ</a:t>
            </a:r>
            <a:r>
              <a:rPr lang="en-US" dirty="0" smtClean="0"/>
              <a:t>       -4          2</a:t>
            </a:r>
          </a:p>
          <a:p>
            <a:r>
              <a:rPr lang="en-US" dirty="0" smtClean="0"/>
              <a:t>-2        1-</a:t>
            </a:r>
            <a:r>
              <a:rPr lang="el-GR" b="1" dirty="0"/>
              <a:t> </a:t>
            </a:r>
            <a:r>
              <a:rPr lang="el-GR" dirty="0"/>
              <a:t>λ</a:t>
            </a:r>
            <a:r>
              <a:rPr lang="en-US" dirty="0" smtClean="0"/>
              <a:t>          2</a:t>
            </a:r>
          </a:p>
          <a:p>
            <a:r>
              <a:rPr lang="en-US" dirty="0"/>
              <a:t>4</a:t>
            </a:r>
            <a:r>
              <a:rPr lang="en-US" dirty="0" smtClean="0"/>
              <a:t>           2          5-</a:t>
            </a:r>
            <a:r>
              <a:rPr lang="el-GR" b="1" dirty="0"/>
              <a:t> </a:t>
            </a:r>
            <a:r>
              <a:rPr lang="el-GR" dirty="0"/>
              <a:t>λ</a:t>
            </a:r>
            <a:endParaRPr lang="en-US" dirty="0" smtClean="0"/>
          </a:p>
          <a:p>
            <a:endParaRPr lang="en-US" dirty="0" smtClean="0"/>
          </a:p>
          <a:p>
            <a:pPr marL="342900" indent="-342900">
              <a:buAutoNum type="arabicPlain"/>
            </a:pPr>
            <a:endParaRPr lang="en-US" dirty="0"/>
          </a:p>
        </p:txBody>
      </p:sp>
      <p:sp>
        <p:nvSpPr>
          <p:cNvPr id="41" name="Double Bracket 40"/>
          <p:cNvSpPr/>
          <p:nvPr/>
        </p:nvSpPr>
        <p:spPr>
          <a:xfrm>
            <a:off x="1878450" y="4356836"/>
            <a:ext cx="2088242" cy="1082101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134118" y="4390072"/>
            <a:ext cx="3334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</a:p>
          <a:p>
            <a:r>
              <a:rPr lang="en-US" dirty="0"/>
              <a:t>y</a:t>
            </a:r>
            <a:endParaRPr lang="en-US" dirty="0" smtClean="0"/>
          </a:p>
          <a:p>
            <a:r>
              <a:rPr lang="en-US" dirty="0"/>
              <a:t>z</a:t>
            </a:r>
            <a:endParaRPr lang="en-US" dirty="0" smtClean="0"/>
          </a:p>
          <a:p>
            <a:pPr marL="342900" indent="-342900">
              <a:buAutoNum type="arabicPlain"/>
            </a:pPr>
            <a:endParaRPr lang="en-US" dirty="0" smtClean="0"/>
          </a:p>
          <a:p>
            <a:pPr marL="342900" indent="-342900">
              <a:buAutoNum type="arabicPlain"/>
            </a:pPr>
            <a:endParaRPr lang="en-US" dirty="0"/>
          </a:p>
        </p:txBody>
      </p:sp>
      <p:sp>
        <p:nvSpPr>
          <p:cNvPr id="43" name="Double Bracket 42"/>
          <p:cNvSpPr/>
          <p:nvPr/>
        </p:nvSpPr>
        <p:spPr>
          <a:xfrm>
            <a:off x="4087911" y="4390072"/>
            <a:ext cx="437883" cy="1048865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1371599" y="2110265"/>
            <a:ext cx="96139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178549" y="2237185"/>
            <a:ext cx="0" cy="4265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04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EIGEN VALUES AND EIGEN VECTORS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3581400"/>
          </a:xfrm>
        </p:spPr>
        <p:txBody>
          <a:bodyPr>
            <a:normAutofit/>
          </a:bodyPr>
          <a:lstStyle/>
          <a:p>
            <a:r>
              <a:rPr lang="en-US" sz="2000" b="1" u="sng" dirty="0" smtClean="0"/>
              <a:t>Using Scilab</a:t>
            </a:r>
          </a:p>
          <a:p>
            <a:r>
              <a:rPr lang="en-US" dirty="0" smtClean="0"/>
              <a:t>Scilab has an inbuilt function called </a:t>
            </a:r>
            <a:r>
              <a:rPr lang="en-US" b="1" dirty="0" smtClean="0"/>
              <a:t>spec(A) </a:t>
            </a:r>
            <a:r>
              <a:rPr lang="en-US" dirty="0" smtClean="0"/>
              <a:t>to calculate Eigen values of a matrix A.</a:t>
            </a:r>
          </a:p>
          <a:p>
            <a:r>
              <a:rPr lang="en-US" b="1" dirty="0" smtClean="0"/>
              <a:t>Syntax</a:t>
            </a:r>
            <a:endParaRPr lang="en-US" b="1" dirty="0"/>
          </a:p>
          <a:p>
            <a:pPr marL="0" indent="0" algn="ctr">
              <a:buNone/>
            </a:pPr>
            <a:r>
              <a:rPr lang="en-US" u="sng" dirty="0" smtClean="0"/>
              <a:t>[c,d]=spec(A)</a:t>
            </a:r>
          </a:p>
          <a:p>
            <a:pPr marL="0" indent="0" algn="ctr">
              <a:buNone/>
            </a:pPr>
            <a:r>
              <a:rPr lang="en-US" dirty="0"/>
              <a:t>where </a:t>
            </a:r>
            <a:r>
              <a:rPr lang="en-US" b="1" dirty="0"/>
              <a:t>d</a:t>
            </a:r>
            <a:r>
              <a:rPr lang="en-US" dirty="0"/>
              <a:t> is a diagonal matrix which contains the </a:t>
            </a:r>
            <a:r>
              <a:rPr lang="en-US" u="sng" dirty="0"/>
              <a:t>eigen-values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</a:t>
            </a:r>
            <a:r>
              <a:rPr lang="en-US" b="1" dirty="0"/>
              <a:t>c</a:t>
            </a:r>
            <a:r>
              <a:rPr lang="en-US" dirty="0"/>
              <a:t> is a matrix that stores the </a:t>
            </a:r>
            <a:r>
              <a:rPr lang="en-US" u="sng" dirty="0"/>
              <a:t>eigen-vectors</a:t>
            </a:r>
            <a:r>
              <a:rPr lang="en-US" dirty="0"/>
              <a:t> as </a:t>
            </a:r>
            <a:r>
              <a:rPr lang="en-US" dirty="0" smtClean="0"/>
              <a:t>its </a:t>
            </a:r>
            <a:r>
              <a:rPr lang="en-US" dirty="0"/>
              <a:t>columns.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88" y="3793887"/>
            <a:ext cx="10663734" cy="368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1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INVERSE OF A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061625"/>
            <a:ext cx="9601200" cy="3581400"/>
          </a:xfrm>
        </p:spPr>
        <p:txBody>
          <a:bodyPr/>
          <a:lstStyle/>
          <a:p>
            <a:r>
              <a:rPr lang="en-US" dirty="0"/>
              <a:t>For a </a:t>
            </a:r>
            <a:r>
              <a:rPr lang="en-US" dirty="0">
                <a:hlinkClick r:id="rId2"/>
              </a:rPr>
              <a:t>square matrix</a:t>
            </a:r>
            <a:r>
              <a:rPr lang="en-US" dirty="0"/>
              <a:t> A, the inverse is written A</a:t>
            </a:r>
            <a:r>
              <a:rPr lang="en-US" baseline="30000" dirty="0"/>
              <a:t>-1</a:t>
            </a:r>
            <a:r>
              <a:rPr lang="en-US" i="1" dirty="0"/>
              <a:t>. </a:t>
            </a:r>
            <a:r>
              <a:rPr lang="en-US" dirty="0"/>
              <a:t>When A is </a:t>
            </a:r>
            <a:r>
              <a:rPr lang="en-US" dirty="0">
                <a:hlinkClick r:id="rId3"/>
              </a:rPr>
              <a:t>multiplied</a:t>
            </a:r>
            <a:r>
              <a:rPr lang="en-US" dirty="0"/>
              <a:t> by A</a:t>
            </a:r>
            <a:r>
              <a:rPr lang="en-US" baseline="30000" dirty="0"/>
              <a:t>-1</a:t>
            </a:r>
            <a:r>
              <a:rPr lang="en-US" dirty="0"/>
              <a:t> the result is the </a:t>
            </a:r>
            <a:r>
              <a:rPr lang="en-US" dirty="0">
                <a:hlinkClick r:id="rId4"/>
              </a:rPr>
              <a:t>identity matrix</a:t>
            </a:r>
            <a:r>
              <a:rPr lang="en-US" dirty="0"/>
              <a:t> I. Non-square matrices do not have inverses.</a:t>
            </a:r>
          </a:p>
          <a:p>
            <a:r>
              <a:rPr lang="en-US" dirty="0" smtClean="0"/>
              <a:t>Not </a:t>
            </a:r>
            <a:r>
              <a:rPr lang="en-US" dirty="0"/>
              <a:t>all square matrices have inverses. A square matrix which has an inverse is called </a:t>
            </a:r>
            <a:r>
              <a:rPr lang="en-US" dirty="0">
                <a:hlinkClick r:id="rId5"/>
              </a:rPr>
              <a:t>invertible</a:t>
            </a:r>
            <a:r>
              <a:rPr lang="en-US" dirty="0"/>
              <a:t> or nonsingular, and a square matrix without an inverse is called </a:t>
            </a:r>
            <a:r>
              <a:rPr lang="en-US" dirty="0">
                <a:hlinkClick r:id="rId6"/>
              </a:rPr>
              <a:t>noninvertible</a:t>
            </a:r>
            <a:r>
              <a:rPr lang="en-US" dirty="0"/>
              <a:t> or singular.</a:t>
            </a:r>
          </a:p>
          <a:p>
            <a:pPr marL="0" indent="0" algn="ctr">
              <a:buNone/>
            </a:pPr>
            <a:r>
              <a:rPr lang="en-US" b="1" dirty="0"/>
              <a:t>AA</a:t>
            </a:r>
            <a:r>
              <a:rPr lang="en-US" b="1" baseline="30000" dirty="0"/>
              <a:t>-1</a:t>
            </a:r>
            <a:r>
              <a:rPr lang="en-US" b="1" dirty="0"/>
              <a:t> = A</a:t>
            </a:r>
            <a:r>
              <a:rPr lang="en-US" b="1" baseline="30000" dirty="0"/>
              <a:t>-1</a:t>
            </a:r>
            <a:r>
              <a:rPr lang="en-US" b="1" dirty="0"/>
              <a:t>A = </a:t>
            </a:r>
            <a:r>
              <a:rPr lang="en-US" b="1" dirty="0" smtClean="0"/>
              <a:t>I</a:t>
            </a:r>
          </a:p>
          <a:p>
            <a:endParaRPr lang="en-US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90741" y="4798091"/>
            <a:ext cx="5962918" cy="43088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</a:t>
            </a:r>
            <a:r>
              <a:rPr kumimoji="0" lang="en-US" sz="600" b="0" i="0" u="none" strike="noStrike" cap="none" normalizeH="0" baseline="3000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 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adjoint of A)   or   A</a:t>
            </a:r>
            <a:r>
              <a:rPr kumimoji="0" lang="en-US" sz="600" b="0" i="0" u="none" strike="noStrike" cap="none" normalizeH="0" baseline="3000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 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   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cofactor matrix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A)</a:t>
            </a:r>
            <a:r>
              <a:rPr kumimoji="0" lang="en-US" sz="1800" b="0" i="0" u="none" strike="noStrike" cap="none" normalizeH="0" baseline="3000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://www.mathwords.com/i/i_assets/inverse%20of%20a%20matrix%201%20over%20det%20A.g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123" y="4798091"/>
            <a:ext cx="400050" cy="3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http://www.mathwords.com/i/i_assets/inverse%20of%20a%20matrix%201%20over%20det%20A.g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391" y="4837321"/>
            <a:ext cx="400050" cy="3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59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INVERSE OF A MATRIX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71600" y="137643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 dirty="0" smtClean="0"/>
              <a:t>Using Scilab</a:t>
            </a:r>
          </a:p>
          <a:p>
            <a:r>
              <a:rPr lang="en-US" dirty="0" smtClean="0"/>
              <a:t>Scilab has an inbuilt function called </a:t>
            </a:r>
            <a:r>
              <a:rPr lang="en-US" b="1" dirty="0" smtClean="0"/>
              <a:t>inv(A) </a:t>
            </a:r>
            <a:r>
              <a:rPr lang="en-US" dirty="0" smtClean="0"/>
              <a:t>to calculate Eigen values of a matrix A.</a:t>
            </a:r>
          </a:p>
          <a:p>
            <a:r>
              <a:rPr lang="en-US" b="1" dirty="0" smtClean="0"/>
              <a:t>Syntax</a:t>
            </a:r>
          </a:p>
          <a:p>
            <a:pPr marL="0" indent="0" algn="ctr">
              <a:buFont typeface="Franklin Gothic Book" panose="020B0503020102020204" pitchFamily="34" charset="0"/>
              <a:buNone/>
            </a:pPr>
            <a:r>
              <a:rPr lang="en-US" u="sng" dirty="0" smtClean="0"/>
              <a:t>B=inv(A)</a:t>
            </a:r>
          </a:p>
          <a:p>
            <a:pPr marL="0" indent="0" algn="ctr">
              <a:buFont typeface="Franklin Gothic Book" panose="020B0503020102020204" pitchFamily="34" charset="0"/>
              <a:buNone/>
            </a:pPr>
            <a:r>
              <a:rPr lang="en-US" dirty="0" smtClean="0"/>
              <a:t>where </a:t>
            </a:r>
            <a:r>
              <a:rPr lang="en-US" b="1" dirty="0"/>
              <a:t>B</a:t>
            </a:r>
            <a:r>
              <a:rPr lang="en-US" dirty="0" smtClean="0"/>
              <a:t> is the inverse matrix of A,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08" y="3821265"/>
            <a:ext cx="2743583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5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DIAGONALISATION OF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Diagonalization</a:t>
            </a:r>
            <a:r>
              <a:rPr lang="en-US" dirty="0"/>
              <a:t> is the process of finding a corresponding diagonal </a:t>
            </a:r>
            <a:r>
              <a:rPr lang="en-US" b="1" dirty="0"/>
              <a:t>matrix</a:t>
            </a:r>
            <a:r>
              <a:rPr lang="en-US" dirty="0"/>
              <a:t> for a </a:t>
            </a:r>
            <a:r>
              <a:rPr lang="en-US" dirty="0" smtClean="0"/>
              <a:t>diagonalizable </a:t>
            </a:r>
            <a:r>
              <a:rPr lang="en-US" b="1" dirty="0" smtClean="0"/>
              <a:t>matrix</a:t>
            </a:r>
            <a:r>
              <a:rPr lang="en-US" dirty="0"/>
              <a:t> or linear map. A square </a:t>
            </a:r>
            <a:r>
              <a:rPr lang="en-US" b="1" dirty="0"/>
              <a:t>matrix</a:t>
            </a:r>
            <a:r>
              <a:rPr lang="en-US" dirty="0"/>
              <a:t> that is not diagonalizable is called defective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diagonal matrix is a square n</a:t>
            </a:r>
            <a:r>
              <a:rPr lang="en-US" sz="1600" dirty="0" smtClean="0"/>
              <a:t>x</a:t>
            </a:r>
            <a:r>
              <a:rPr lang="en-US" dirty="0" smtClean="0"/>
              <a:t>n matrix with non zero entries only along its main diagonal.</a:t>
            </a:r>
          </a:p>
          <a:p>
            <a:pPr marL="0" indent="0" algn="ctr">
              <a:buNone/>
            </a:pPr>
            <a:r>
              <a:rPr lang="en-US" sz="2800" dirty="0" smtClean="0"/>
              <a:t>D=P</a:t>
            </a:r>
            <a:r>
              <a:rPr lang="en-US" sz="2800" baseline="30000" dirty="0" smtClean="0"/>
              <a:t>-1</a:t>
            </a:r>
            <a:r>
              <a:rPr lang="en-US" sz="2800" dirty="0" smtClean="0"/>
              <a:t>AP</a:t>
            </a:r>
          </a:p>
          <a:p>
            <a:pPr marL="0" indent="0">
              <a:buNone/>
            </a:pPr>
            <a:r>
              <a:rPr lang="en-US" dirty="0" smtClean="0"/>
              <a:t>         Where </a:t>
            </a:r>
            <a:r>
              <a:rPr lang="en-US" dirty="0"/>
              <a:t>P is an </a:t>
            </a:r>
            <a:r>
              <a:rPr lang="en-US" dirty="0" smtClean="0"/>
              <a:t>invertible matrix and D is diagonal matrix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31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en-US" dirty="0" smtClean="0"/>
              <a:t>DIAGONALISATION OF MATRIX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573" y="1731022"/>
            <a:ext cx="4657254" cy="437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59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GAUSS </a:t>
            </a:r>
            <a:r>
              <a:rPr lang="en-US" dirty="0"/>
              <a:t>ELIMINIATION METHOD USING MATRICES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1272209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dirty="0"/>
              <a:t>Gaussian elimination is a method for solving </a:t>
            </a:r>
            <a:r>
              <a:rPr lang="en-US" dirty="0">
                <a:hlinkClick r:id="rId2"/>
              </a:rPr>
              <a:t>matrix equations</a:t>
            </a:r>
            <a:r>
              <a:rPr lang="en-US" dirty="0"/>
              <a:t> </a:t>
            </a:r>
            <a:r>
              <a:rPr lang="en-US" dirty="0">
                <a:hlinkClick r:id="rId3"/>
              </a:rPr>
              <a:t>of the form</a:t>
            </a:r>
            <a:endParaRPr lang="en-US" dirty="0"/>
          </a:p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dirty="0" smtClean="0"/>
              <a:t>Ax=b</a:t>
            </a:r>
          </a:p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dirty="0"/>
              <a:t>To perform Gaussian elimination starting with the system of equations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1039" name="Picture 15" descr=" [a_(11) a_(12) ... a_(1k); a_(21) a_(22) ... a_(2k); | | ... |; a_(k1) a_(k2) ... a_(kk)][x_1; x_2; |; x_k]=[b_1; b_2; |; b_k],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763" y="3329133"/>
            <a:ext cx="3242240" cy="1251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2589212" y="4697927"/>
            <a:ext cx="9046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compose the "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hlinkClick r:id="rId5"/>
              </a:rPr>
              <a:t>augmented matrix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equation"</a:t>
            </a:r>
          </a:p>
        </p:txBody>
      </p:sp>
      <p:pic>
        <p:nvPicPr>
          <p:cNvPr id="1041" name="Picture 17" descr=" [a_(11) a_(12) ... a_(1k); a_(21) a_(22) ... a_(2k); | | ... |; a_(k1) a_(k2) ... a_(kk)|b_1; b_2; |; b_k][x_1; x_2; |; x_k]. 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763" y="5184099"/>
            <a:ext cx="3242240" cy="139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67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GAUSS ELIMINIATION METHOD USING MATRICES </a:t>
            </a:r>
            <a:r>
              <a:rPr lang="en-US" sz="2400" dirty="0" smtClean="0"/>
              <a:t>(Using 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285999"/>
            <a:ext cx="4900411" cy="43594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2x</a:t>
            </a:r>
            <a:r>
              <a:rPr lang="en-US" baseline="-25000" dirty="0"/>
              <a:t>2</a:t>
            </a:r>
            <a:r>
              <a:rPr lang="en-US" dirty="0"/>
              <a:t> + x</a:t>
            </a:r>
            <a:r>
              <a:rPr lang="en-US" sz="2100" baseline="-25000" dirty="0"/>
              <a:t>3</a:t>
            </a:r>
            <a:r>
              <a:rPr lang="en-US" dirty="0"/>
              <a:t> = −</a:t>
            </a:r>
            <a:r>
              <a:rPr lang="en-US" dirty="0" smtClean="0"/>
              <a:t>8</a:t>
            </a:r>
          </a:p>
          <a:p>
            <a:r>
              <a:rPr lang="en-US" dirty="0" smtClean="0"/>
              <a:t> </a:t>
            </a:r>
            <a:r>
              <a:rPr lang="en-US" dirty="0"/>
              <a:t>x</a:t>
            </a:r>
            <a:r>
              <a:rPr lang="en-US" sz="2100" baseline="-25000" dirty="0"/>
              <a:t>1</a:t>
            </a:r>
            <a:r>
              <a:rPr lang="en-US" dirty="0"/>
              <a:t> − 2x</a:t>
            </a:r>
            <a:r>
              <a:rPr lang="en-US" sz="2100" baseline="-25000" dirty="0"/>
              <a:t>2</a:t>
            </a:r>
            <a:r>
              <a:rPr lang="en-US" dirty="0"/>
              <a:t> − 3x</a:t>
            </a:r>
            <a:r>
              <a:rPr lang="en-US" sz="2100" baseline="-25000" dirty="0"/>
              <a:t>3</a:t>
            </a:r>
            <a:r>
              <a:rPr lang="en-US" dirty="0"/>
              <a:t> = 0 </a:t>
            </a:r>
            <a:endParaRPr lang="en-US" dirty="0" smtClean="0"/>
          </a:p>
          <a:p>
            <a:r>
              <a:rPr lang="en-US" dirty="0" smtClean="0"/>
              <a:t>−</a:t>
            </a:r>
            <a:r>
              <a:rPr lang="en-US" dirty="0"/>
              <a:t>x</a:t>
            </a:r>
            <a:r>
              <a:rPr lang="en-US" sz="2100" baseline="-25000" dirty="0"/>
              <a:t>1</a:t>
            </a:r>
            <a:r>
              <a:rPr lang="en-US" dirty="0"/>
              <a:t> + x</a:t>
            </a:r>
            <a:r>
              <a:rPr lang="en-US" sz="2100" baseline="-25000" dirty="0"/>
              <a:t>2</a:t>
            </a:r>
            <a:r>
              <a:rPr lang="en-US" dirty="0"/>
              <a:t> + 2x</a:t>
            </a:r>
            <a:r>
              <a:rPr lang="en-US" sz="2100" baseline="-25000" dirty="0"/>
              <a:t>3</a:t>
            </a:r>
            <a:r>
              <a:rPr lang="en-US" dirty="0"/>
              <a:t> = 3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Augmented Matrix will be,</a:t>
            </a:r>
          </a:p>
          <a:p>
            <a:pPr marL="0" indent="0">
              <a:buNone/>
            </a:pPr>
            <a:r>
              <a:rPr lang="en-US" dirty="0" smtClean="0"/>
              <a:t>                   0   2   1  −8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1 </a:t>
            </a:r>
            <a:r>
              <a:rPr lang="en-US" dirty="0"/>
              <a:t>−2 −3  </a:t>
            </a:r>
            <a:r>
              <a:rPr lang="en-US" dirty="0" smtClean="0"/>
              <a:t>0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−1   </a:t>
            </a:r>
            <a:r>
              <a:rPr lang="en-US" dirty="0"/>
              <a:t>1  2 </a:t>
            </a:r>
            <a:r>
              <a:rPr lang="en-US" dirty="0" smtClean="0"/>
              <a:t>  </a:t>
            </a:r>
            <a:r>
              <a:rPr lang="en-US" dirty="0"/>
              <a:t>3 </a:t>
            </a:r>
          </a:p>
          <a:p>
            <a:pPr marL="0" indent="0">
              <a:buNone/>
            </a:pPr>
            <a:r>
              <a:rPr lang="en-US" dirty="0" smtClean="0"/>
              <a:t>Swap </a:t>
            </a:r>
            <a:r>
              <a:rPr lang="en-US" dirty="0"/>
              <a:t>Row 1 and Row </a:t>
            </a:r>
            <a:r>
              <a:rPr lang="en-US" dirty="0" smtClean="0"/>
              <a:t>2</a:t>
            </a:r>
          </a:p>
          <a:p>
            <a:pPr marL="0" indent="0">
              <a:buNone/>
            </a:pPr>
            <a:r>
              <a:rPr lang="en-US" dirty="0" smtClean="0"/>
              <a:t>1 </a:t>
            </a:r>
            <a:r>
              <a:rPr lang="en-US" dirty="0"/>
              <a:t>−2 −</a:t>
            </a:r>
            <a:r>
              <a:rPr lang="en-US" dirty="0" smtClean="0"/>
              <a:t>3   0</a:t>
            </a:r>
          </a:p>
          <a:p>
            <a:pPr marL="0" indent="0">
              <a:buNone/>
            </a:pPr>
            <a:r>
              <a:rPr lang="en-US" dirty="0" smtClean="0"/>
              <a:t>0   2   1  −</a:t>
            </a:r>
            <a:r>
              <a:rPr lang="en-US" dirty="0"/>
              <a:t>8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−1  </a:t>
            </a:r>
            <a:r>
              <a:rPr lang="en-US" dirty="0"/>
              <a:t>1 </a:t>
            </a:r>
            <a:r>
              <a:rPr lang="en-US" dirty="0" smtClean="0"/>
              <a:t> 2   3  </a:t>
            </a:r>
          </a:p>
        </p:txBody>
      </p:sp>
      <p:sp>
        <p:nvSpPr>
          <p:cNvPr id="4" name="Double Bracket 3"/>
          <p:cNvSpPr/>
          <p:nvPr/>
        </p:nvSpPr>
        <p:spPr>
          <a:xfrm>
            <a:off x="2463799" y="3810000"/>
            <a:ext cx="1383314" cy="1268747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20098" y="2285072"/>
            <a:ext cx="432730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 </a:t>
            </a:r>
            <a:r>
              <a:rPr lang="en-US" dirty="0"/>
              <a:t>Row 1 to Row 3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1 −</a:t>
            </a:r>
            <a:r>
              <a:rPr lang="en-US" dirty="0" smtClean="0"/>
              <a:t>2  </a:t>
            </a:r>
            <a:r>
              <a:rPr lang="en-US" dirty="0"/>
              <a:t>−</a:t>
            </a:r>
            <a:r>
              <a:rPr lang="en-US" dirty="0" smtClean="0"/>
              <a:t>3   </a:t>
            </a:r>
            <a:r>
              <a:rPr lang="en-US" dirty="0"/>
              <a:t>0 </a:t>
            </a:r>
          </a:p>
          <a:p>
            <a:r>
              <a:rPr lang="en-US" dirty="0"/>
              <a:t>0   </a:t>
            </a:r>
            <a:r>
              <a:rPr lang="en-US" dirty="0" smtClean="0"/>
              <a:t> 2   </a:t>
            </a:r>
            <a:r>
              <a:rPr lang="en-US" dirty="0"/>
              <a:t>1   −8</a:t>
            </a:r>
          </a:p>
          <a:p>
            <a:r>
              <a:rPr lang="en-US" dirty="0"/>
              <a:t> 0 −1 −1   </a:t>
            </a:r>
            <a:r>
              <a:rPr lang="en-US" dirty="0" smtClean="0"/>
              <a:t>3</a:t>
            </a:r>
          </a:p>
          <a:p>
            <a:endParaRPr lang="en-US" dirty="0"/>
          </a:p>
          <a:p>
            <a:r>
              <a:rPr lang="en-US" dirty="0" smtClean="0"/>
              <a:t>Swap </a:t>
            </a:r>
            <a:r>
              <a:rPr lang="en-US" dirty="0"/>
              <a:t>Row 2 and Row </a:t>
            </a:r>
            <a:r>
              <a:rPr lang="en-US" dirty="0" smtClean="0"/>
              <a:t>3</a:t>
            </a:r>
          </a:p>
          <a:p>
            <a:r>
              <a:rPr lang="en-US" dirty="0" smtClean="0"/>
              <a:t>1  −2 </a:t>
            </a:r>
            <a:r>
              <a:rPr lang="en-US" dirty="0"/>
              <a:t>−3 </a:t>
            </a:r>
            <a:r>
              <a:rPr lang="en-US" dirty="0" smtClean="0"/>
              <a:t> 0</a:t>
            </a:r>
          </a:p>
          <a:p>
            <a:r>
              <a:rPr lang="en-US" dirty="0" smtClean="0"/>
              <a:t>0  −1 −1   3</a:t>
            </a:r>
          </a:p>
          <a:p>
            <a:r>
              <a:rPr lang="en-US" dirty="0" smtClean="0"/>
              <a:t>0    2   1  −8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Add </a:t>
            </a:r>
            <a:r>
              <a:rPr lang="en-US" dirty="0"/>
              <a:t>twice Row 2 to Row 3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1  −</a:t>
            </a:r>
            <a:r>
              <a:rPr lang="en-US" dirty="0"/>
              <a:t>2 </a:t>
            </a:r>
            <a:r>
              <a:rPr lang="en-US" dirty="0" smtClean="0"/>
              <a:t> −</a:t>
            </a:r>
            <a:r>
              <a:rPr lang="en-US" dirty="0"/>
              <a:t>3 </a:t>
            </a:r>
            <a:r>
              <a:rPr lang="en-US" dirty="0" smtClean="0"/>
              <a:t>  0</a:t>
            </a:r>
          </a:p>
          <a:p>
            <a:r>
              <a:rPr lang="en-US" dirty="0" smtClean="0"/>
              <a:t>0  −</a:t>
            </a:r>
            <a:r>
              <a:rPr lang="en-US" dirty="0"/>
              <a:t>1 </a:t>
            </a:r>
            <a:r>
              <a:rPr lang="en-US" dirty="0" smtClean="0"/>
              <a:t> −</a:t>
            </a:r>
            <a:r>
              <a:rPr lang="en-US" dirty="0"/>
              <a:t>1 </a:t>
            </a:r>
            <a:r>
              <a:rPr lang="en-US" dirty="0" smtClean="0"/>
              <a:t>  3</a:t>
            </a:r>
          </a:p>
          <a:p>
            <a:r>
              <a:rPr lang="en-US" dirty="0" smtClean="0"/>
              <a:t>0    0  −1  </a:t>
            </a:r>
            <a:r>
              <a:rPr lang="en-US" dirty="0"/>
              <a:t>−</a:t>
            </a:r>
            <a:r>
              <a:rPr lang="en-US" dirty="0" smtClean="0"/>
              <a:t>2</a:t>
            </a:r>
          </a:p>
          <a:p>
            <a:endParaRPr lang="en-US" dirty="0" smtClean="0"/>
          </a:p>
        </p:txBody>
      </p:sp>
      <p:sp>
        <p:nvSpPr>
          <p:cNvPr id="6" name="Double Bracket 5"/>
          <p:cNvSpPr/>
          <p:nvPr/>
        </p:nvSpPr>
        <p:spPr>
          <a:xfrm>
            <a:off x="6634094" y="4257334"/>
            <a:ext cx="1368202" cy="942393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ouble Bracket 6"/>
          <p:cNvSpPr/>
          <p:nvPr/>
        </p:nvSpPr>
        <p:spPr>
          <a:xfrm>
            <a:off x="6672281" y="5875207"/>
            <a:ext cx="1319996" cy="934013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Double Bracket 7"/>
          <p:cNvSpPr/>
          <p:nvPr/>
        </p:nvSpPr>
        <p:spPr>
          <a:xfrm>
            <a:off x="1371598" y="5397500"/>
            <a:ext cx="1473201" cy="1247998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Double Bracket 8"/>
          <p:cNvSpPr/>
          <p:nvPr/>
        </p:nvSpPr>
        <p:spPr>
          <a:xfrm>
            <a:off x="6642008" y="2755303"/>
            <a:ext cx="1444403" cy="1103384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flipH="1" flipV="1">
            <a:off x="3479800" y="3819945"/>
            <a:ext cx="17868" cy="1258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0128" y="4238367"/>
            <a:ext cx="0" cy="894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620000" y="5863017"/>
            <a:ext cx="0" cy="894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349500" y="5598374"/>
            <a:ext cx="0" cy="894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620000" y="2888163"/>
            <a:ext cx="0" cy="8376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13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357" y="850007"/>
            <a:ext cx="9601200" cy="54220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Add </a:t>
            </a:r>
            <a:r>
              <a:rPr lang="en-US" dirty="0" smtClean="0"/>
              <a:t>-1 times </a:t>
            </a:r>
            <a:r>
              <a:rPr lang="en-US" dirty="0"/>
              <a:t>Row </a:t>
            </a:r>
            <a:r>
              <a:rPr lang="en-US" dirty="0" smtClean="0"/>
              <a:t>3 </a:t>
            </a:r>
            <a:r>
              <a:rPr lang="en-US" dirty="0"/>
              <a:t>to Row </a:t>
            </a:r>
            <a:r>
              <a:rPr lang="en-US" dirty="0" smtClean="0"/>
              <a:t>2</a:t>
            </a:r>
          </a:p>
          <a:p>
            <a:pPr marL="0" indent="0">
              <a:buNone/>
            </a:pPr>
            <a:r>
              <a:rPr lang="en-US" dirty="0"/>
              <a:t>Add </a:t>
            </a:r>
            <a:r>
              <a:rPr lang="en-US" dirty="0" smtClean="0"/>
              <a:t>-3 times Row 3 </a:t>
            </a:r>
            <a:r>
              <a:rPr lang="en-US" dirty="0"/>
              <a:t>to Row </a:t>
            </a:r>
            <a:r>
              <a:rPr lang="en-US" dirty="0" smtClean="0"/>
              <a:t>1</a:t>
            </a:r>
          </a:p>
          <a:p>
            <a:pPr marL="0" indent="0">
              <a:buNone/>
            </a:pPr>
            <a:r>
              <a:rPr lang="en-US" dirty="0"/>
              <a:t>1  −2   </a:t>
            </a:r>
            <a:r>
              <a:rPr lang="en-US" dirty="0" smtClean="0"/>
              <a:t> 0    6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0  −1   </a:t>
            </a:r>
            <a:r>
              <a:rPr lang="en-US" dirty="0" smtClean="0"/>
              <a:t> 0    5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0    0  −1  −</a:t>
            </a:r>
            <a:r>
              <a:rPr lang="en-US" dirty="0" smtClean="0"/>
              <a:t>2</a:t>
            </a:r>
          </a:p>
          <a:p>
            <a:pPr marL="0" indent="0">
              <a:buNone/>
            </a:pPr>
            <a:r>
              <a:rPr lang="en-US" dirty="0" smtClean="0"/>
              <a:t>Multiply Rows 2 and 3 by -1</a:t>
            </a:r>
          </a:p>
          <a:p>
            <a:pPr marL="0" indent="0">
              <a:buNone/>
            </a:pPr>
            <a:r>
              <a:rPr lang="en-US" dirty="0" smtClean="0"/>
              <a:t>1  0  0  -4</a:t>
            </a:r>
          </a:p>
          <a:p>
            <a:pPr marL="0" indent="0">
              <a:buNone/>
            </a:pPr>
            <a:r>
              <a:rPr lang="en-US" dirty="0" smtClean="0"/>
              <a:t>0  1  0  -5</a:t>
            </a:r>
          </a:p>
          <a:p>
            <a:pPr marL="0" indent="0">
              <a:buNone/>
            </a:pPr>
            <a:r>
              <a:rPr lang="en-US" dirty="0" smtClean="0"/>
              <a:t>0  0  1   2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We get,</a:t>
            </a:r>
          </a:p>
          <a:p>
            <a:pPr marL="0" indent="0">
              <a:buNone/>
            </a:pPr>
            <a:r>
              <a:rPr lang="en-US" dirty="0"/>
              <a:t>x</a:t>
            </a:r>
            <a:r>
              <a:rPr lang="en-US" sz="1900" baseline="-25000" dirty="0"/>
              <a:t>1</a:t>
            </a:r>
            <a:r>
              <a:rPr lang="en-US" dirty="0" smtClean="0"/>
              <a:t>=-4</a:t>
            </a:r>
          </a:p>
          <a:p>
            <a:pPr marL="0" indent="0">
              <a:buNone/>
            </a:pPr>
            <a:r>
              <a:rPr lang="en-US" dirty="0" smtClean="0"/>
              <a:t>x</a:t>
            </a:r>
            <a:r>
              <a:rPr lang="en-US" sz="1900" baseline="-25000" dirty="0"/>
              <a:t>2</a:t>
            </a:r>
            <a:r>
              <a:rPr lang="en-US" dirty="0" smtClean="0"/>
              <a:t>=-5</a:t>
            </a:r>
          </a:p>
          <a:p>
            <a:pPr marL="0" indent="0">
              <a:buNone/>
            </a:pPr>
            <a:r>
              <a:rPr lang="en-US" dirty="0" smtClean="0"/>
              <a:t>x</a:t>
            </a:r>
            <a:r>
              <a:rPr lang="en-US" sz="1900" baseline="-25000" dirty="0"/>
              <a:t>3</a:t>
            </a:r>
            <a:r>
              <a:rPr lang="en-US" dirty="0" smtClean="0"/>
              <a:t>=2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ouble Bracket 3"/>
          <p:cNvSpPr/>
          <p:nvPr/>
        </p:nvSpPr>
        <p:spPr>
          <a:xfrm>
            <a:off x="1397355" y="1646350"/>
            <a:ext cx="1629179" cy="1268747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ouble Bracket 4"/>
          <p:cNvSpPr/>
          <p:nvPr/>
        </p:nvSpPr>
        <p:spPr>
          <a:xfrm>
            <a:off x="1397355" y="3201383"/>
            <a:ext cx="1410239" cy="1321149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H="1" flipV="1">
            <a:off x="2539642" y="1656295"/>
            <a:ext cx="17868" cy="1258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211944" y="3263730"/>
            <a:ext cx="17868" cy="1258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69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GAUSS ELIMINIATION METHOD USING </a:t>
            </a:r>
            <a:r>
              <a:rPr lang="en-US" dirty="0" smtClean="0"/>
              <a:t>MATRICES (Under Scilab)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782683"/>
            <a:ext cx="8915400" cy="4843497"/>
          </a:xfrm>
        </p:spPr>
        <p:txBody>
          <a:bodyPr>
            <a:normAutofit/>
          </a:bodyPr>
          <a:lstStyle/>
          <a:p>
            <a:r>
              <a:rPr lang="en-US" dirty="0" smtClean="0"/>
              <a:t>In Scilab, for a given matrix </a:t>
            </a:r>
            <a:r>
              <a:rPr lang="en-US" b="1" dirty="0" smtClean="0"/>
              <a:t>A</a:t>
            </a:r>
            <a:r>
              <a:rPr lang="en-US" dirty="0" smtClean="0"/>
              <a:t> and a vector </a:t>
            </a:r>
            <a:r>
              <a:rPr lang="en-US" b="1" dirty="0" smtClean="0"/>
              <a:t>b</a:t>
            </a:r>
            <a:r>
              <a:rPr lang="en-US" dirty="0" smtClean="0"/>
              <a:t>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Augmented matrix </a:t>
            </a:r>
            <a:r>
              <a:rPr lang="en-US" b="1" dirty="0" smtClean="0"/>
              <a:t>A</a:t>
            </a:r>
            <a:r>
              <a:rPr lang="en-US" b="1" baseline="-25000" dirty="0" smtClean="0"/>
              <a:t>aug</a:t>
            </a:r>
            <a:r>
              <a:rPr lang="en-US" dirty="0" smtClean="0"/>
              <a:t> can be written as: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                           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146" y="2152086"/>
            <a:ext cx="3562847" cy="23911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146" y="5238458"/>
            <a:ext cx="2314898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0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GAUSS ELIMINIATION METHOD USING MATRICES </a:t>
            </a:r>
            <a:r>
              <a:rPr lang="en-US" dirty="0" smtClean="0"/>
              <a:t>(Using Scilab)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063285"/>
          </a:xfrm>
        </p:spPr>
        <p:txBody>
          <a:bodyPr>
            <a:normAutofit/>
          </a:bodyPr>
          <a:lstStyle/>
          <a:p>
            <a:r>
              <a:rPr lang="en-US" dirty="0" smtClean="0"/>
              <a:t>To show first step of forward elimination in Scilab, we first copy the augmented matrix we created into an array </a:t>
            </a:r>
            <a:r>
              <a:rPr lang="en-US" b="1" dirty="0" smtClean="0"/>
              <a:t>a</a:t>
            </a:r>
            <a:r>
              <a:rPr lang="en-US" dirty="0" smtClean="0"/>
              <a:t> by using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Next, we write the algorithm in </a:t>
            </a:r>
            <a:r>
              <a:rPr lang="en-US" dirty="0"/>
              <a:t>S</a:t>
            </a:r>
            <a:r>
              <a:rPr lang="en-US" dirty="0" smtClean="0"/>
              <a:t>cinotes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316" y="3190891"/>
            <a:ext cx="2449343" cy="187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3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571" y="407259"/>
            <a:ext cx="9084973" cy="742950"/>
          </a:xfrm>
        </p:spPr>
        <p:txBody>
          <a:bodyPr>
            <a:normAutofit/>
          </a:bodyPr>
          <a:lstStyle/>
          <a:p>
            <a:r>
              <a:rPr lang="en-US" dirty="0"/>
              <a:t>GAUSS ELIMINIATION </a:t>
            </a:r>
            <a:r>
              <a:rPr lang="en-US" dirty="0" smtClean="0"/>
              <a:t>METHOD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847" y="1002102"/>
            <a:ext cx="6230219" cy="58558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033" y="1129709"/>
            <a:ext cx="5838002" cy="560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8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90918"/>
            <a:ext cx="6432281" cy="526745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mesh is a loop which does not contain any other loops within 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Firstly, we identify </a:t>
            </a:r>
            <a:r>
              <a:rPr lang="en-US" dirty="0"/>
              <a:t>the number of basic </a:t>
            </a:r>
            <a:r>
              <a:rPr lang="en-US" dirty="0" smtClean="0"/>
              <a:t>meshes. Three in this case.</a:t>
            </a:r>
          </a:p>
          <a:p>
            <a:r>
              <a:rPr lang="en-US" dirty="0" smtClean="0"/>
              <a:t>Then, we assign </a:t>
            </a:r>
            <a:r>
              <a:rPr lang="en-US" dirty="0"/>
              <a:t>a current to each mesh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Then, </a:t>
            </a:r>
            <a:r>
              <a:rPr lang="en-US" dirty="0"/>
              <a:t>we </a:t>
            </a:r>
            <a:r>
              <a:rPr lang="en-US" dirty="0" smtClean="0"/>
              <a:t>apply Kirchoff’s Voltage Law </a:t>
            </a:r>
            <a:r>
              <a:rPr lang="en-US" dirty="0"/>
              <a:t>around each loop to get </a:t>
            </a:r>
            <a:r>
              <a:rPr lang="en-US" dirty="0" smtClean="0"/>
              <a:t>system of linear equations </a:t>
            </a:r>
            <a:r>
              <a:rPr lang="en-US" dirty="0"/>
              <a:t>in terms of the loop </a:t>
            </a:r>
            <a:r>
              <a:rPr lang="en-US" dirty="0" smtClean="0"/>
              <a:t>currents</a:t>
            </a:r>
            <a:r>
              <a:rPr lang="en-US" dirty="0"/>
              <a:t> </a:t>
            </a:r>
            <a:r>
              <a:rPr lang="en-US" dirty="0" smtClean="0"/>
              <a:t>i.e.</a:t>
            </a:r>
          </a:p>
          <a:p>
            <a:pPr marL="0" indent="0" algn="ctr">
              <a:buNone/>
            </a:pPr>
            <a:r>
              <a:rPr lang="pt-BR" b="1" dirty="0" smtClean="0"/>
              <a:t>R11  R12  R13     I1               V1</a:t>
            </a:r>
          </a:p>
          <a:p>
            <a:pPr marL="0" indent="0" algn="ctr">
              <a:buNone/>
            </a:pPr>
            <a:r>
              <a:rPr lang="pt-BR" b="1" dirty="0" smtClean="0"/>
              <a:t>R21  R22  R23     I2               V2</a:t>
            </a:r>
          </a:p>
          <a:p>
            <a:pPr marL="0" indent="0" algn="ctr">
              <a:buNone/>
            </a:pPr>
            <a:r>
              <a:rPr lang="pt-BR" b="1" dirty="0" smtClean="0"/>
              <a:t>R31  R32  R33     I3               V3</a:t>
            </a:r>
          </a:p>
          <a:p>
            <a:endParaRPr lang="pt-BR" b="1" dirty="0" smtClean="0"/>
          </a:p>
          <a:p>
            <a:pPr marL="0" indent="0">
              <a:buNone/>
            </a:pPr>
            <a:r>
              <a:rPr lang="pt-BR" b="1" dirty="0" smtClean="0"/>
              <a:t>                           RESISTANCE   CURRENT    VOLTAGE</a:t>
            </a:r>
            <a:endParaRPr lang="pt-BR" b="1" dirty="0"/>
          </a:p>
          <a:p>
            <a:r>
              <a:rPr lang="pt-BR" dirty="0" smtClean="0"/>
              <a:t>By solving these linear equations by gauss elimination method, we get the result of I</a:t>
            </a:r>
            <a:r>
              <a:rPr lang="pt-BR" baseline="-25000" dirty="0" smtClean="0"/>
              <a:t>1, </a:t>
            </a:r>
            <a:r>
              <a:rPr lang="pt-BR" dirty="0" smtClean="0"/>
              <a:t>I</a:t>
            </a:r>
            <a:r>
              <a:rPr lang="pt-BR" baseline="-25000" dirty="0"/>
              <a:t>2</a:t>
            </a:r>
            <a:r>
              <a:rPr lang="pt-BR" baseline="-25000" dirty="0" smtClean="0"/>
              <a:t> </a:t>
            </a:r>
            <a:r>
              <a:rPr lang="pt-BR" dirty="0" smtClean="0"/>
              <a:t>and I</a:t>
            </a:r>
            <a:r>
              <a:rPr lang="pt-BR" baseline="-25000" dirty="0" smtClean="0"/>
              <a:t>3</a:t>
            </a:r>
          </a:p>
          <a:p>
            <a:pPr marL="0" indent="0">
              <a:buNone/>
            </a:pPr>
            <a:endParaRPr lang="en-US" baseline="-25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960" y="266700"/>
            <a:ext cx="3848637" cy="35056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538" y="4000101"/>
            <a:ext cx="3429479" cy="2857899"/>
          </a:xfrm>
          <a:prstGeom prst="rect">
            <a:avLst/>
          </a:prstGeom>
        </p:spPr>
      </p:pic>
      <p:sp>
        <p:nvSpPr>
          <p:cNvPr id="6" name="Double Bracket 5"/>
          <p:cNvSpPr/>
          <p:nvPr/>
        </p:nvSpPr>
        <p:spPr>
          <a:xfrm>
            <a:off x="2846918" y="3905621"/>
            <a:ext cx="1738648" cy="1138569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Double Bracket 7"/>
          <p:cNvSpPr/>
          <p:nvPr/>
        </p:nvSpPr>
        <p:spPr>
          <a:xfrm>
            <a:off x="4661974" y="3905621"/>
            <a:ext cx="592429" cy="1138569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Double Bracket 8"/>
          <p:cNvSpPr/>
          <p:nvPr/>
        </p:nvSpPr>
        <p:spPr>
          <a:xfrm>
            <a:off x="5745351" y="3905621"/>
            <a:ext cx="631065" cy="1138569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Equal 9"/>
          <p:cNvSpPr/>
          <p:nvPr/>
        </p:nvSpPr>
        <p:spPr>
          <a:xfrm>
            <a:off x="5183569" y="4305568"/>
            <a:ext cx="606022" cy="338674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Up Arrow 12"/>
          <p:cNvSpPr/>
          <p:nvPr/>
        </p:nvSpPr>
        <p:spPr>
          <a:xfrm rot="10800000">
            <a:off x="3553556" y="5138670"/>
            <a:ext cx="325371" cy="41212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Up Arrow 13"/>
          <p:cNvSpPr/>
          <p:nvPr/>
        </p:nvSpPr>
        <p:spPr>
          <a:xfrm rot="10800000">
            <a:off x="4791987" y="5138671"/>
            <a:ext cx="325371" cy="41212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Up Arrow 14"/>
          <p:cNvSpPr/>
          <p:nvPr/>
        </p:nvSpPr>
        <p:spPr>
          <a:xfrm rot="10800000">
            <a:off x="5898197" y="5138670"/>
            <a:ext cx="325371" cy="41212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53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296" y="132009"/>
            <a:ext cx="9601200" cy="1485900"/>
          </a:xfrm>
        </p:spPr>
        <p:txBody>
          <a:bodyPr/>
          <a:lstStyle/>
          <a:p>
            <a:r>
              <a:rPr lang="en-US" dirty="0" smtClean="0"/>
              <a:t>GAUSS SEIDEL METHOD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865" y="874959"/>
            <a:ext cx="6354062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0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296" y="132009"/>
            <a:ext cx="9601200" cy="1485900"/>
          </a:xfrm>
        </p:spPr>
        <p:txBody>
          <a:bodyPr/>
          <a:lstStyle/>
          <a:p>
            <a:r>
              <a:rPr lang="en-US" dirty="0" smtClean="0"/>
              <a:t>GAUSS SEIDEL METHOD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339" y="970728"/>
            <a:ext cx="6373114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4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296" y="132009"/>
            <a:ext cx="9601200" cy="1485900"/>
          </a:xfrm>
        </p:spPr>
        <p:txBody>
          <a:bodyPr/>
          <a:lstStyle/>
          <a:p>
            <a:r>
              <a:rPr lang="en-US" dirty="0" smtClean="0"/>
              <a:t>GAUSS SEIDEL METHOD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812" y="874959"/>
            <a:ext cx="6392167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3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296" y="132009"/>
            <a:ext cx="9601200" cy="1485900"/>
          </a:xfrm>
        </p:spPr>
        <p:txBody>
          <a:bodyPr/>
          <a:lstStyle/>
          <a:p>
            <a:r>
              <a:rPr lang="en-US" dirty="0" smtClean="0"/>
              <a:t>GAUSS SEIDEL METHOD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866" y="874959"/>
            <a:ext cx="5268060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74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296" y="132009"/>
            <a:ext cx="9601200" cy="1485900"/>
          </a:xfrm>
        </p:spPr>
        <p:txBody>
          <a:bodyPr/>
          <a:lstStyle/>
          <a:p>
            <a:r>
              <a:rPr lang="en-US" dirty="0" smtClean="0"/>
              <a:t>GAUSS SEIDEL METHOD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945" y="874959"/>
            <a:ext cx="4305901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78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96402"/>
            <a:ext cx="9601200" cy="1485900"/>
          </a:xfrm>
        </p:spPr>
        <p:txBody>
          <a:bodyPr/>
          <a:lstStyle/>
          <a:p>
            <a:r>
              <a:rPr lang="en-US" dirty="0" smtClean="0"/>
              <a:t>COUPLED SPRING MASS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210614"/>
            <a:ext cx="9601200" cy="52030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Let the masses M</a:t>
            </a:r>
            <a:r>
              <a:rPr lang="en-US" baseline="-25000" dirty="0" smtClean="0"/>
              <a:t>1</a:t>
            </a:r>
            <a:r>
              <a:rPr lang="en-US" dirty="0" smtClean="0"/>
              <a:t>, M</a:t>
            </a:r>
            <a:r>
              <a:rPr lang="en-US" sz="2100" baseline="-25000" dirty="0"/>
              <a:t>2</a:t>
            </a:r>
            <a:r>
              <a:rPr lang="en-US" dirty="0" smtClean="0"/>
              <a:t>, M</a:t>
            </a:r>
            <a:r>
              <a:rPr lang="en-US" sz="2100" baseline="-25000" dirty="0"/>
              <a:t>3</a:t>
            </a:r>
            <a:r>
              <a:rPr lang="en-US" dirty="0" smtClean="0"/>
              <a:t> be displaced by distances x</a:t>
            </a:r>
            <a:r>
              <a:rPr lang="en-US" sz="2100" baseline="-25000" dirty="0"/>
              <a:t>1</a:t>
            </a:r>
            <a:r>
              <a:rPr lang="en-US" dirty="0" smtClean="0"/>
              <a:t>, x</a:t>
            </a:r>
            <a:r>
              <a:rPr lang="en-US" sz="2100" baseline="-25000" dirty="0"/>
              <a:t>2</a:t>
            </a:r>
            <a:r>
              <a:rPr lang="en-US" dirty="0" smtClean="0"/>
              <a:t>, x</a:t>
            </a:r>
            <a:r>
              <a:rPr lang="en-US" sz="2100" baseline="-25000" dirty="0"/>
              <a:t>3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r>
              <a:rPr lang="en-US" b="1" dirty="0" smtClean="0"/>
              <a:t>Now applying Newton’s Law on M</a:t>
            </a:r>
            <a:r>
              <a:rPr lang="en-US" b="1" baseline="-25000" dirty="0" smtClean="0"/>
              <a:t>1</a:t>
            </a:r>
          </a:p>
          <a:p>
            <a:pPr marL="0" indent="0">
              <a:buNone/>
            </a:pPr>
            <a:r>
              <a:rPr lang="en-US" dirty="0" smtClean="0"/>
              <a:t>M</a:t>
            </a:r>
            <a:r>
              <a:rPr lang="en-US" sz="2100" baseline="-25000" dirty="0"/>
              <a:t>1</a:t>
            </a:r>
            <a:r>
              <a:rPr lang="en-US" dirty="0" smtClean="0"/>
              <a:t>x</a:t>
            </a:r>
            <a:r>
              <a:rPr lang="en-US" sz="2100" baseline="-25000" dirty="0"/>
              <a:t>1</a:t>
            </a:r>
            <a:r>
              <a:rPr lang="en-US" dirty="0" smtClean="0"/>
              <a:t>’’=-kx</a:t>
            </a:r>
            <a:r>
              <a:rPr lang="en-US" sz="2100" baseline="-25000" dirty="0"/>
              <a:t>1</a:t>
            </a:r>
            <a:r>
              <a:rPr lang="en-US" dirty="0" smtClean="0"/>
              <a:t>+k(x</a:t>
            </a:r>
            <a:r>
              <a:rPr lang="en-US" sz="2100" baseline="-25000" dirty="0"/>
              <a:t>2</a:t>
            </a:r>
            <a:r>
              <a:rPr lang="en-US" dirty="0" smtClean="0"/>
              <a:t>-x</a:t>
            </a:r>
            <a:r>
              <a:rPr lang="en-US" sz="2100" baseline="-25000" dirty="0"/>
              <a:t>1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X</a:t>
            </a:r>
            <a:r>
              <a:rPr lang="en-US" sz="2100" baseline="-25000" dirty="0"/>
              <a:t>1</a:t>
            </a:r>
            <a:r>
              <a:rPr lang="en-US" dirty="0" smtClean="0"/>
              <a:t>’’=[-</a:t>
            </a:r>
            <a:r>
              <a:rPr lang="en-US" dirty="0"/>
              <a:t>kx</a:t>
            </a:r>
            <a:r>
              <a:rPr lang="en-US" sz="2100" baseline="-25000" dirty="0"/>
              <a:t>1</a:t>
            </a:r>
            <a:r>
              <a:rPr lang="en-US" dirty="0"/>
              <a:t>+k(x</a:t>
            </a:r>
            <a:r>
              <a:rPr lang="en-US" sz="2100" baseline="-25000" dirty="0"/>
              <a:t>2</a:t>
            </a:r>
            <a:r>
              <a:rPr lang="en-US" dirty="0"/>
              <a:t>-x</a:t>
            </a:r>
            <a:r>
              <a:rPr lang="en-US" sz="2100" baseline="-25000" dirty="0"/>
              <a:t>1</a:t>
            </a:r>
            <a:r>
              <a:rPr lang="en-US" dirty="0" smtClean="0"/>
              <a:t>)]/M</a:t>
            </a:r>
            <a:r>
              <a:rPr lang="en-US" sz="2100" baseline="-25000" dirty="0"/>
              <a:t>1</a:t>
            </a:r>
          </a:p>
          <a:p>
            <a:pPr marL="0" indent="0">
              <a:buNone/>
            </a:pPr>
            <a:r>
              <a:rPr lang="en-US" dirty="0" smtClean="0"/>
              <a:t>X</a:t>
            </a:r>
            <a:r>
              <a:rPr lang="en-US" sz="2100" baseline="-25000" dirty="0"/>
              <a:t>1</a:t>
            </a:r>
            <a:r>
              <a:rPr lang="en-US" dirty="0" smtClean="0"/>
              <a:t>’’=[-2kx</a:t>
            </a:r>
            <a:r>
              <a:rPr lang="en-US" sz="2100" baseline="-25000" dirty="0"/>
              <a:t>1</a:t>
            </a:r>
            <a:r>
              <a:rPr lang="en-US" dirty="0" smtClean="0"/>
              <a:t>+kx</a:t>
            </a:r>
            <a:r>
              <a:rPr lang="en-US" sz="2100" baseline="-25000" dirty="0"/>
              <a:t>2</a:t>
            </a:r>
            <a:r>
              <a:rPr lang="en-US" dirty="0" smtClean="0"/>
              <a:t>]/M</a:t>
            </a:r>
            <a:r>
              <a:rPr lang="en-US" baseline="-25000" dirty="0" smtClean="0"/>
              <a:t>1</a:t>
            </a:r>
          </a:p>
          <a:p>
            <a:pPr marL="0" indent="0">
              <a:buNone/>
            </a:pPr>
            <a:r>
              <a:rPr lang="en-US" sz="2100" b="1" dirty="0"/>
              <a:t>Now applying Newton’s Law on mass M2</a:t>
            </a:r>
          </a:p>
          <a:p>
            <a:pPr marL="0" indent="0">
              <a:buNone/>
            </a:pPr>
            <a:r>
              <a:rPr lang="en-US" dirty="0" smtClean="0"/>
              <a:t>M</a:t>
            </a:r>
            <a:r>
              <a:rPr lang="en-US" sz="2100" baseline="-25000" dirty="0"/>
              <a:t>2</a:t>
            </a:r>
            <a:r>
              <a:rPr lang="en-US" dirty="0" smtClean="0"/>
              <a:t>x</a:t>
            </a:r>
            <a:r>
              <a:rPr lang="en-US" sz="2100" baseline="-25000" dirty="0"/>
              <a:t>2</a:t>
            </a:r>
            <a:r>
              <a:rPr lang="en-US" dirty="0" smtClean="0"/>
              <a:t>’’=-k(x</a:t>
            </a:r>
            <a:r>
              <a:rPr lang="en-US" sz="2100" baseline="-25000" dirty="0"/>
              <a:t>2</a:t>
            </a:r>
            <a:r>
              <a:rPr lang="en-US" dirty="0" smtClean="0"/>
              <a:t>-x</a:t>
            </a:r>
            <a:r>
              <a:rPr lang="en-US" sz="2100" baseline="-25000" dirty="0"/>
              <a:t>1</a:t>
            </a:r>
            <a:r>
              <a:rPr lang="en-US" dirty="0" smtClean="0"/>
              <a:t>)+k(x</a:t>
            </a:r>
            <a:r>
              <a:rPr lang="en-US" sz="2100" baseline="-25000" dirty="0"/>
              <a:t>3</a:t>
            </a:r>
            <a:r>
              <a:rPr lang="en-US" dirty="0" smtClean="0"/>
              <a:t>-x</a:t>
            </a:r>
            <a:r>
              <a:rPr lang="en-US" sz="2100" baseline="-25000" dirty="0"/>
              <a:t>2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X</a:t>
            </a:r>
            <a:r>
              <a:rPr lang="en-US" sz="2100" baseline="-25000" dirty="0"/>
              <a:t>2</a:t>
            </a:r>
            <a:r>
              <a:rPr lang="en-US" dirty="0" smtClean="0"/>
              <a:t>’’=[</a:t>
            </a:r>
            <a:r>
              <a:rPr lang="en-US" dirty="0"/>
              <a:t>-k(x</a:t>
            </a:r>
            <a:r>
              <a:rPr lang="en-US" sz="2100" baseline="-25000" dirty="0"/>
              <a:t>2</a:t>
            </a:r>
            <a:r>
              <a:rPr lang="en-US" dirty="0"/>
              <a:t>-x</a:t>
            </a:r>
            <a:r>
              <a:rPr lang="en-US" sz="2100" baseline="-25000" dirty="0"/>
              <a:t>1</a:t>
            </a:r>
            <a:r>
              <a:rPr lang="en-US" dirty="0"/>
              <a:t>)+k(x</a:t>
            </a:r>
            <a:r>
              <a:rPr lang="en-US" sz="2100" baseline="-25000" dirty="0"/>
              <a:t>3</a:t>
            </a:r>
            <a:r>
              <a:rPr lang="en-US" dirty="0"/>
              <a:t>-x</a:t>
            </a:r>
            <a:r>
              <a:rPr lang="en-US" sz="2100" baseline="-25000" dirty="0"/>
              <a:t>2</a:t>
            </a:r>
            <a:r>
              <a:rPr lang="en-US" dirty="0"/>
              <a:t>)</a:t>
            </a:r>
            <a:r>
              <a:rPr lang="en-US" dirty="0" smtClean="0"/>
              <a:t>]/M</a:t>
            </a:r>
            <a:r>
              <a:rPr lang="en-US" sz="2100" baseline="-25000" dirty="0"/>
              <a:t>2</a:t>
            </a:r>
          </a:p>
          <a:p>
            <a:pPr marL="0" indent="0">
              <a:buNone/>
            </a:pPr>
            <a:r>
              <a:rPr lang="en-US" dirty="0" smtClean="0"/>
              <a:t>X</a:t>
            </a:r>
            <a:r>
              <a:rPr lang="en-US" sz="2100" baseline="-25000" dirty="0"/>
              <a:t>2</a:t>
            </a:r>
            <a:r>
              <a:rPr lang="en-US" dirty="0" smtClean="0"/>
              <a:t>’’=[-2kx</a:t>
            </a:r>
            <a:r>
              <a:rPr lang="en-US" baseline="-25000" dirty="0" smtClean="0"/>
              <a:t>2</a:t>
            </a:r>
            <a:r>
              <a:rPr lang="en-US" dirty="0" smtClean="0"/>
              <a:t>+kx</a:t>
            </a:r>
            <a:r>
              <a:rPr lang="en-US" sz="2100" baseline="-25000" dirty="0"/>
              <a:t>1</a:t>
            </a:r>
            <a:r>
              <a:rPr lang="en-US" dirty="0" smtClean="0"/>
              <a:t>+k</a:t>
            </a:r>
            <a:r>
              <a:rPr lang="en-US" sz="2100" baseline="-25000" dirty="0"/>
              <a:t>3</a:t>
            </a:r>
            <a:r>
              <a:rPr lang="en-US" dirty="0" smtClean="0"/>
              <a:t>]/M</a:t>
            </a:r>
            <a:r>
              <a:rPr lang="en-US" sz="2100" baseline="-25000" dirty="0" smtClean="0"/>
              <a:t>2</a:t>
            </a:r>
            <a:endParaRPr lang="en-US" sz="2100" baseline="-25000" dirty="0"/>
          </a:p>
          <a:p>
            <a:pPr marL="0" indent="0">
              <a:buNone/>
            </a:pPr>
            <a:r>
              <a:rPr lang="en-US" sz="2100" b="1" dirty="0"/>
              <a:t>Now applying Newton’s Law on mass M3</a:t>
            </a:r>
          </a:p>
          <a:p>
            <a:pPr marL="0" indent="0">
              <a:buNone/>
            </a:pPr>
            <a:r>
              <a:rPr lang="en-US" dirty="0" smtClean="0"/>
              <a:t>M</a:t>
            </a:r>
            <a:r>
              <a:rPr lang="en-US" sz="2100" baseline="-25000" dirty="0"/>
              <a:t>3</a:t>
            </a:r>
            <a:r>
              <a:rPr lang="en-US" dirty="0" smtClean="0"/>
              <a:t>x</a:t>
            </a:r>
            <a:r>
              <a:rPr lang="en-US" sz="2100" baseline="-25000" dirty="0"/>
              <a:t>3</a:t>
            </a:r>
            <a:r>
              <a:rPr lang="en-US" dirty="0" smtClean="0"/>
              <a:t>’’=-kx</a:t>
            </a:r>
            <a:r>
              <a:rPr lang="en-US" sz="2100" baseline="-25000" dirty="0"/>
              <a:t>3</a:t>
            </a:r>
            <a:r>
              <a:rPr lang="en-US" dirty="0" smtClean="0"/>
              <a:t>-k(x</a:t>
            </a:r>
            <a:r>
              <a:rPr lang="en-US" sz="2100" baseline="-25000" dirty="0"/>
              <a:t>3</a:t>
            </a:r>
            <a:r>
              <a:rPr lang="en-US" dirty="0" smtClean="0"/>
              <a:t>-x</a:t>
            </a:r>
            <a:r>
              <a:rPr lang="en-US" baseline="-25000" dirty="0" smtClean="0"/>
              <a:t>2</a:t>
            </a:r>
            <a:r>
              <a:rPr lang="en-US" dirty="0"/>
              <a:t>)</a:t>
            </a:r>
            <a:endParaRPr lang="en-US" sz="2100" baseline="-25000" dirty="0"/>
          </a:p>
          <a:p>
            <a:pPr marL="0" indent="0">
              <a:buNone/>
            </a:pPr>
            <a:r>
              <a:rPr lang="en-US" dirty="0" smtClean="0"/>
              <a:t>X</a:t>
            </a:r>
            <a:r>
              <a:rPr lang="en-US" sz="2100" baseline="-25000" dirty="0"/>
              <a:t>3</a:t>
            </a:r>
            <a:r>
              <a:rPr lang="en-US" dirty="0" smtClean="0"/>
              <a:t>’’=[-kx</a:t>
            </a:r>
            <a:r>
              <a:rPr lang="en-US" sz="2100" baseline="-25000" dirty="0"/>
              <a:t>3</a:t>
            </a:r>
            <a:r>
              <a:rPr lang="en-US" dirty="0" smtClean="0"/>
              <a:t>-kx</a:t>
            </a:r>
            <a:r>
              <a:rPr lang="en-US" sz="2100" baseline="-25000" dirty="0"/>
              <a:t>3</a:t>
            </a:r>
            <a:r>
              <a:rPr lang="en-US" dirty="0" smtClean="0"/>
              <a:t>+kx</a:t>
            </a:r>
            <a:r>
              <a:rPr lang="en-US" sz="2100" baseline="-25000" dirty="0"/>
              <a:t>2</a:t>
            </a:r>
            <a:r>
              <a:rPr lang="en-US" dirty="0" smtClean="0"/>
              <a:t>]/M</a:t>
            </a:r>
            <a:r>
              <a:rPr lang="en-US" sz="2100" baseline="-25000" dirty="0"/>
              <a:t>3</a:t>
            </a:r>
          </a:p>
          <a:p>
            <a:pPr marL="0" indent="0">
              <a:buNone/>
            </a:pPr>
            <a:r>
              <a:rPr lang="en-US" dirty="0" smtClean="0"/>
              <a:t>X</a:t>
            </a:r>
            <a:r>
              <a:rPr lang="en-US" sz="2100" baseline="-25000" dirty="0"/>
              <a:t>3</a:t>
            </a:r>
            <a:r>
              <a:rPr lang="en-US" dirty="0" smtClean="0"/>
              <a:t>’’=[-2kx</a:t>
            </a:r>
            <a:r>
              <a:rPr lang="en-US" sz="2100" baseline="-25000" dirty="0" smtClean="0"/>
              <a:t>3</a:t>
            </a:r>
            <a:r>
              <a:rPr lang="en-US" dirty="0"/>
              <a:t>-</a:t>
            </a:r>
            <a:r>
              <a:rPr lang="en-US" dirty="0" smtClean="0"/>
              <a:t>kx</a:t>
            </a:r>
            <a:r>
              <a:rPr lang="en-US" sz="2100" baseline="-25000" dirty="0" smtClean="0"/>
              <a:t>2</a:t>
            </a:r>
            <a:r>
              <a:rPr lang="en-US" dirty="0" smtClean="0"/>
              <a:t>]/M</a:t>
            </a:r>
            <a:r>
              <a:rPr lang="en-US" sz="2100" baseline="-25000" dirty="0"/>
              <a:t>3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104202"/>
            <a:ext cx="5841186" cy="170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620" y="669701"/>
            <a:ext cx="8912180" cy="1094705"/>
          </a:xfrm>
        </p:spPr>
        <p:txBody>
          <a:bodyPr/>
          <a:lstStyle/>
          <a:p>
            <a:r>
              <a:rPr lang="en-US" dirty="0" smtClean="0"/>
              <a:t>Acknowledgement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918952"/>
            <a:ext cx="9601200" cy="4939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We have completed this project work with the help of knowledge imported by the teachers and PhD scholars. We are very greatful to our teacher </a:t>
            </a:r>
            <a:r>
              <a:rPr lang="en-US" sz="2400" dirty="0">
                <a:solidFill>
                  <a:srgbClr val="002060"/>
                </a:solidFill>
              </a:rPr>
              <a:t>Dr. Lokesh Kumar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who acted as our guiding light .We also </a:t>
            </a:r>
            <a:r>
              <a:rPr lang="en-US" sz="2400" dirty="0" smtClean="0">
                <a:solidFill>
                  <a:schemeClr val="tx1"/>
                </a:solidFill>
              </a:rPr>
              <a:t>thank </a:t>
            </a:r>
            <a:r>
              <a:rPr lang="en-US" sz="2400" dirty="0">
                <a:solidFill>
                  <a:schemeClr val="tx1"/>
                </a:solidFill>
              </a:rPr>
              <a:t>the research scholars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rgbClr val="002060"/>
                </a:solidFill>
              </a:rPr>
              <a:t>Mr. Sandeep Dudi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rgbClr val="002060"/>
                </a:solidFill>
              </a:rPr>
              <a:t>Ms. Tejpreet Kaur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rgbClr val="002060"/>
                </a:solidFill>
              </a:rPr>
              <a:t>Mr. Manoj Kaur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rgbClr val="002060"/>
                </a:solidFill>
              </a:rPr>
              <a:t>Ms. Divanshi Sharma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We are also thankful to everyone who have supported us for that we have completed our project effectively and more over on time . We have gained a lot of knowledge which would be very helpful to us in future .</a:t>
            </a:r>
          </a:p>
        </p:txBody>
      </p:sp>
    </p:spTree>
    <p:extLst>
      <p:ext uri="{BB962C8B-B14F-4D97-AF65-F5344CB8AC3E}">
        <p14:creationId xmlns:p14="http://schemas.microsoft.com/office/powerpoint/2010/main" val="124549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73354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sz="9600" b="1" u="sng" dirty="0" smtClean="0"/>
              <a:t>THANK YOU</a:t>
            </a:r>
            <a:endParaRPr lang="en-US" sz="9600" b="1" u="sng" dirty="0"/>
          </a:p>
        </p:txBody>
      </p:sp>
    </p:spTree>
    <p:extLst>
      <p:ext uri="{BB962C8B-B14F-4D97-AF65-F5344CB8AC3E}">
        <p14:creationId xmlns:p14="http://schemas.microsoft.com/office/powerpoint/2010/main" val="348149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9628</TotalTime>
  <Words>1034</Words>
  <Application>Microsoft Office PowerPoint</Application>
  <PresentationFormat>Widescreen</PresentationFormat>
  <Paragraphs>191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Black</vt:lpstr>
      <vt:lpstr>Franklin Gothic Book</vt:lpstr>
      <vt:lpstr>Times New Roman</vt:lpstr>
      <vt:lpstr>Wingdings</vt:lpstr>
      <vt:lpstr>Crop</vt:lpstr>
      <vt:lpstr>PowerPoint Presentation</vt:lpstr>
      <vt:lpstr>BENEFITS OF SCILAB + APPLICATIONS</vt:lpstr>
      <vt:lpstr>BASICS OF MATRICES</vt:lpstr>
      <vt:lpstr>EIGEN VALUES AND EIGEN VECTORS</vt:lpstr>
      <vt:lpstr>PowerPoint Presentation</vt:lpstr>
      <vt:lpstr>EIGEN VALUES AND EIGEN VECTORS</vt:lpstr>
      <vt:lpstr>INVERSE OF A MATRIX</vt:lpstr>
      <vt:lpstr>INVERSE OF A MATRIX</vt:lpstr>
      <vt:lpstr>DIAGONALISATION OF MATRIX</vt:lpstr>
      <vt:lpstr>DIAGONALISATION OF MATRIX</vt:lpstr>
      <vt:lpstr>GAUSS ELIMINIATION METHOD USING MATRICES </vt:lpstr>
      <vt:lpstr>GAUSS ELIMINIATION METHOD USING MATRICES (Using Example)</vt:lpstr>
      <vt:lpstr>PowerPoint Presentation</vt:lpstr>
      <vt:lpstr>GAUSS ELIMINIATION METHOD USING MATRICES (Under Scilab) </vt:lpstr>
      <vt:lpstr>GAUSS ELIMINIATION METHOD USING MATRICES (Using Scilab)</vt:lpstr>
      <vt:lpstr>GAUSS ELIMINIATION METHOD</vt:lpstr>
      <vt:lpstr>MESH ANALYSIS</vt:lpstr>
      <vt:lpstr>GAUSS SEIDEL METHOD</vt:lpstr>
      <vt:lpstr>GAUSS SEIDEL METHOD</vt:lpstr>
      <vt:lpstr>GAUSS SEIDEL METHOD</vt:lpstr>
      <vt:lpstr>GAUSS SEIDEL METHOD</vt:lpstr>
      <vt:lpstr>GAUSS SEIDEL METHOD</vt:lpstr>
      <vt:lpstr>COUPLED SPRING MASS SYSTEM</vt:lpstr>
      <vt:lpstr>Acknowledgement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vegamahajan@yahoo.in</dc:creator>
  <cp:lastModifiedBy>vegamahajan@yahoo.in</cp:lastModifiedBy>
  <cp:revision>94</cp:revision>
  <dcterms:created xsi:type="dcterms:W3CDTF">2018-08-15T09:38:54Z</dcterms:created>
  <dcterms:modified xsi:type="dcterms:W3CDTF">2018-09-04T04:27:43Z</dcterms:modified>
</cp:coreProperties>
</file>