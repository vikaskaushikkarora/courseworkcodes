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75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2" r:id="rId13"/>
    <p:sldId id="293" r:id="rId14"/>
    <p:sldId id="294" r:id="rId15"/>
    <p:sldId id="295" r:id="rId16"/>
    <p:sldId id="289" r:id="rId17"/>
    <p:sldId id="290" r:id="rId18"/>
    <p:sldId id="277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66" autoAdjust="0"/>
    <p:restoredTop sz="94660"/>
  </p:normalViewPr>
  <p:slideViewPr>
    <p:cSldViewPr>
      <p:cViewPr varScale="1">
        <p:scale>
          <a:sx n="73" d="100"/>
          <a:sy n="73" d="100"/>
        </p:scale>
        <p:origin x="-126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18407-1953-410C-89A6-6ACF6B927561}" type="datetimeFigureOut">
              <a:rPr lang="en-US" smtClean="0"/>
              <a:t>8/25/2018</a:t>
            </a:fld>
            <a:endParaRPr lang="en-US"/>
          </a:p>
        </p:txBody>
      </p:sp>
      <p:sp>
        <p:nvSpPr>
          <p:cNvPr id="10486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2526-0A62-4328-9303-2F6005CF155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ight Triangle 9"/>
          <p:cNvSpPr/>
          <p:nvPr/>
        </p:nvSpPr>
        <p:spPr>
          <a:xfrm>
            <a:off x="-1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85" name="Title 8"/>
          <p:cNvSpPr>
            <a:spLocks noGrp="1"/>
          </p:cNvSpPr>
          <p:nvPr>
            <p:ph type="ctrTitle"/>
          </p:nvPr>
        </p:nvSpPr>
        <p:spPr>
          <a:xfrm>
            <a:off x="685800" y="1752602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586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5" name="Group 1"/>
          <p:cNvGrpSpPr/>
          <p:nvPr/>
        </p:nvGrpSpPr>
        <p:grpSpPr>
          <a:xfrm>
            <a:off x="-3765" y="4953001"/>
            <a:ext cx="9147765" cy="1912088"/>
            <a:chOff x="-3765" y="4832896"/>
            <a:chExt cx="9147765" cy="2032192"/>
          </a:xfrm>
        </p:grpSpPr>
        <p:sp>
          <p:nvSpPr>
            <p:cNvPr id="104858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04858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048589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3145729" name="Straight Connector 11"/>
            <p:cNvCxnSpPr>
              <a:cxnSpLocks/>
            </p:cNvCxnSpPr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15000">
                    <a:schemeClr val="accent1">
                      <a:shade val="40000"/>
                      <a:satMod val="110000"/>
                    </a:schemeClr>
                  </a:gs>
                  <a:gs pos="45000">
                    <a:schemeClr val="accent1">
                      <a:tint val="7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DBD814-51BC-4C68-8201-9CC4239E04FD}" type="datetime1">
              <a:rPr lang="en-US" smtClean="0"/>
              <a:t>8/25/2018</a:t>
            </a:fld>
            <a:endParaRPr lang="en-US"/>
          </a:p>
        </p:txBody>
      </p:sp>
      <p:sp>
        <p:nvSpPr>
          <p:cNvPr id="1048591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92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D009-D48D-4758-9269-D8A6E463FDF0}" type="datetime1">
              <a:rPr lang="en-US" smtClean="0"/>
              <a:t>8/25/2018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  <p:sp>
        <p:nvSpPr>
          <p:cNvPr id="1048600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21E88-546E-478F-BFD2-178C0608C366}" type="datetime1">
              <a:rPr lang="en-US" smtClean="0"/>
              <a:t>8/25/2018</a:t>
            </a:fld>
            <a:endParaRPr lang="en-US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  <p:sp>
        <p:nvSpPr>
          <p:cNvPr id="1048681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048682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99FF-EB45-42C8-AB5F-840BA8272A14}" type="datetime1">
              <a:rPr lang="en-US" smtClean="0"/>
              <a:t>8/25/2018</a:t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  <p:sp>
        <p:nvSpPr>
          <p:cNvPr id="1048647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457201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50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51" name="Content Placeholder 4"/>
          <p:cNvSpPr>
            <a:spLocks noGrp="1"/>
          </p:cNvSpPr>
          <p:nvPr>
            <p:ph sz="quarter" idx="2"/>
          </p:nvPr>
        </p:nvSpPr>
        <p:spPr>
          <a:xfrm>
            <a:off x="457201" y="1444295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52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444295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D12A-8B4C-4E56-9762-D004CC2BC10E}" type="datetime1">
              <a:rPr lang="en-US" smtClean="0"/>
              <a:t>8/25/2018</a:t>
            </a:fld>
            <a:endParaRPr lang="en-US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5B6C-EE4E-4979-B71D-20B5852E50C3}" type="datetime1">
              <a:rPr lang="en-US" smtClean="0"/>
              <a:t>8/25/2018</a:t>
            </a:fld>
            <a:endParaRPr lang="en-US"/>
          </a:p>
        </p:txBody>
      </p:sp>
      <p:sp>
        <p:nvSpPr>
          <p:cNvPr id="104865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  <p:sp>
        <p:nvSpPr>
          <p:cNvPr id="1048659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6FB77-1131-4CD5-BB2F-BE38F8D16360}" type="datetime1">
              <a:rPr lang="en-US" smtClean="0"/>
              <a:t>8/25/2018</a:t>
            </a:fld>
            <a:endParaRPr lang="en-US"/>
          </a:p>
        </p:txBody>
      </p:sp>
      <p:sp>
        <p:nvSpPr>
          <p:cNvPr id="104861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89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90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438108E-C2C6-4602-988D-53D2261F1D7E}" type="datetime1">
              <a:rPr lang="en-US" smtClean="0"/>
              <a:t>8/25/2018</a:t>
            </a:fld>
            <a:endParaRPr lang="en-US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3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66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486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8C28F2-24D0-4EFE-90D6-C40BC7719A74}" type="datetime1">
              <a:rPr lang="en-US" smtClean="0"/>
              <a:t>8/25/2018</a:t>
            </a:fld>
            <a:endParaRPr lang="en-US"/>
          </a:p>
        </p:txBody>
      </p:sp>
      <p:sp>
        <p:nvSpPr>
          <p:cNvPr id="104866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6407945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6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228600" y="4865123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71" name="Freeform 7"/>
          <p:cNvSpPr/>
          <p:nvPr/>
        </p:nvSpPr>
        <p:spPr bwMode="auto">
          <a:xfrm>
            <a:off x="716437" y="5001994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48672" name="Freeform 8"/>
          <p:cNvSpPr/>
          <p:nvPr/>
        </p:nvSpPr>
        <p:spPr bwMode="auto">
          <a:xfrm>
            <a:off x="-53560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48673" name="Right Triangle 9"/>
          <p:cNvSpPr/>
          <p:nvPr/>
        </p:nvSpPr>
        <p:spPr bwMode="auto">
          <a:xfrm>
            <a:off x="-6043" y="5791254"/>
            <a:ext cx="3402315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3145730" name="Straight Connector 10"/>
          <p:cNvCxnSpPr>
            <a:cxnSpLocks/>
          </p:cNvCxnSpPr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15000">
                  <a:schemeClr val="accent1">
                    <a:shade val="40000"/>
                    <a:satMod val="110000"/>
                  </a:schemeClr>
                </a:gs>
                <a:gs pos="45000">
                  <a:schemeClr val="accent1">
                    <a:tint val="7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74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048675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8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30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2B9E-7AA9-4CBA-9D1F-AC4B74921C7A}" type="datetime1">
              <a:rPr lang="en-US" smtClean="0"/>
              <a:t>8/25/2018</a:t>
            </a:fld>
            <a:endParaRPr lang="en-US"/>
          </a:p>
        </p:txBody>
      </p:sp>
      <p:sp>
        <p:nvSpPr>
          <p:cNvPr id="10486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Vertical Title 1"/>
          <p:cNvSpPr>
            <a:spLocks noGrp="1"/>
          </p:cNvSpPr>
          <p:nvPr>
            <p:ph type="title" orient="vert"/>
          </p:nvPr>
        </p:nvSpPr>
        <p:spPr>
          <a:xfrm>
            <a:off x="6844014" y="274641"/>
            <a:ext cx="1777471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6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47E3-5724-42AA-B2C8-A2FCDB064D6E}" type="datetime1">
              <a:rPr lang="en-US" smtClean="0"/>
              <a:t>8/25/2018</a:t>
            </a:fld>
            <a:endParaRPr lang="en-US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12"/>
          <p:cNvSpPr/>
          <p:nvPr/>
        </p:nvSpPr>
        <p:spPr bwMode="auto">
          <a:xfrm>
            <a:off x="716437" y="5001994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48577" name="Freeform 11"/>
          <p:cNvSpPr/>
          <p:nvPr/>
        </p:nvSpPr>
        <p:spPr bwMode="auto">
          <a:xfrm>
            <a:off x="-53560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48578" name="Right Triangle 13"/>
          <p:cNvSpPr/>
          <p:nvPr/>
        </p:nvSpPr>
        <p:spPr bwMode="auto">
          <a:xfrm>
            <a:off x="-6043" y="5791254"/>
            <a:ext cx="3402315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15000">
                  <a:schemeClr val="accent1">
                    <a:shade val="40000"/>
                    <a:satMod val="110000"/>
                  </a:schemeClr>
                </a:gs>
                <a:gs pos="45000">
                  <a:schemeClr val="accent1">
                    <a:tint val="7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7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58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9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48581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980BCB7C-7810-4304-B915-2E40B9D9E99F}" type="datetime1">
              <a:rPr lang="en-US" smtClean="0"/>
              <a:t>8/25/2018</a:t>
            </a:fld>
            <a:endParaRPr lang="en-US"/>
          </a:p>
        </p:txBody>
      </p:sp>
      <p:sp>
        <p:nvSpPr>
          <p:cNvPr id="104858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6407945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583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5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6EB16DA-C006-4F00-AF52-1B478716E62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lab.in/" TargetMode="External" /><Relationship Id="rId2" Type="http://schemas.openxmlformats.org/officeDocument/2006/relationships/hyperlink" Target="http://www.scilab.org/" TargetMode="Externa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 /><Relationship Id="rId3" Type="http://schemas.openxmlformats.org/officeDocument/2006/relationships/image" Target="../media/image11.gif" /><Relationship Id="rId7" Type="http://schemas.openxmlformats.org/officeDocument/2006/relationships/image" Target="../media/image15.gif" /><Relationship Id="rId2" Type="http://schemas.openxmlformats.org/officeDocument/2006/relationships/hyperlink" Target="http://mathworld.wolfram.com/RegularSingularPoint.html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gif" /><Relationship Id="rId5" Type="http://schemas.openxmlformats.org/officeDocument/2006/relationships/image" Target="../media/image13.gif" /><Relationship Id="rId4" Type="http://schemas.openxmlformats.org/officeDocument/2006/relationships/image" Target="../media/image12.gif" /><Relationship Id="rId9" Type="http://schemas.openxmlformats.org/officeDocument/2006/relationships/image" Target="../media/image17.gif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hyperlink" Target="http://mathworld.wolfram.com/LegendreFunctionoftheFirstKind.html" TargetMode="External" /><Relationship Id="rId7" Type="http://schemas.openxmlformats.org/officeDocument/2006/relationships/image" Target="../media/image18.gif" /><Relationship Id="rId2" Type="http://schemas.openxmlformats.org/officeDocument/2006/relationships/hyperlink" Target="http://mathworld.wolfram.com/Second-OrderOrdinaryDifferentialEquation.html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mathworld.wolfram.com/FrobeniusMethod.html" TargetMode="External" /><Relationship Id="rId5" Type="http://schemas.openxmlformats.org/officeDocument/2006/relationships/hyperlink" Target="http://mathworld.wolfram.com/LegendrePolynomial.html" TargetMode="External" /><Relationship Id="rId4" Type="http://schemas.openxmlformats.org/officeDocument/2006/relationships/hyperlink" Target="http://mathworld.wolfram.com/LegendreFunctionoftheSecondKind.html" TargetMode="External" /><Relationship Id="rId9" Type="http://schemas.openxmlformats.org/officeDocument/2006/relationships/image" Target="../media/image20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mathworld.wolfram.com/OddNumber.html" TargetMode="External" /><Relationship Id="rId3" Type="http://schemas.openxmlformats.org/officeDocument/2006/relationships/image" Target="../media/image24.jpeg" /><Relationship Id="rId7" Type="http://schemas.openxmlformats.org/officeDocument/2006/relationships/hyperlink" Target="http://mathworld.wolfram.com/Power.html" TargetMode="External" /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mathworld.wolfram.com/Polynomial.html" TargetMode="External" /><Relationship Id="rId5" Type="http://schemas.openxmlformats.org/officeDocument/2006/relationships/hyperlink" Target="http://mathworld.wolfram.com/Integer.html" TargetMode="External" /><Relationship Id="rId4" Type="http://schemas.openxmlformats.org/officeDocument/2006/relationships/hyperlink" Target="http://mathworld.wolfram.com/EvenNumber.html" TargetMode="External" /><Relationship Id="rId9" Type="http://schemas.openxmlformats.org/officeDocument/2006/relationships/image" Target="../media/image19.gif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u="sng" dirty="0"/>
              <a:t>SCILAB</a:t>
            </a:r>
            <a:endParaRPr lang="en-US" sz="6600" u="sng" dirty="0"/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685800" y="3611606"/>
            <a:ext cx="7772400" cy="3246393"/>
          </a:xfrm>
        </p:spPr>
        <p:txBody>
          <a:bodyPr>
            <a:normAutofit fontScale="96296" lnSpcReduction="20000"/>
          </a:bodyPr>
          <a:lstStyle/>
          <a:p>
            <a:r>
              <a:rPr lang="en-IN" dirty="0"/>
              <a:t>Bessel Function</a:t>
            </a:r>
          </a:p>
          <a:p>
            <a:r>
              <a:rPr lang="en-IN" dirty="0"/>
              <a:t>Legendre Function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chemeClr val="bg2"/>
                </a:solidFill>
              </a:rPr>
              <a:t>Presentation by:-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Diya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Ritika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and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Chirag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pic>
        <p:nvPicPr>
          <p:cNvPr id="2097152" name="Picture 3" descr="C:\Users\Dell\AppData\Local\Microsoft\Windows\INetCache\IE\WJNSRRD7\Computer_icon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1857364"/>
            <a:ext cx="4490883" cy="3000396"/>
          </a:xfrm>
          <a:prstGeom prst="rect">
            <a:avLst/>
          </a:prstGeom>
          <a:noFill/>
        </p:spPr>
      </p:pic>
      <p:sp>
        <p:nvSpPr>
          <p:cNvPr id="104859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93" lnSpcReduction="10000"/>
          </a:bodyPr>
          <a:lstStyle/>
          <a:p>
            <a:pPr algn="just"/>
            <a:r>
              <a:rPr lang="en-US" dirty="0" err="1">
                <a:latin typeface="Yu Gothic UI" pitchFamily="34" charset="-128"/>
                <a:ea typeface="Yu Gothic UI" pitchFamily="34" charset="-128"/>
              </a:rPr>
              <a:t>Scilab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is the open source, user friendly and computational package that is used in various streams of science and engineering. 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Scilab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helps us to perform operations like matrix operations, simulation, plotting, etc. Many numerical problems can be expressed in a reduced number of code lines, as compared to similar solutions using traditional languages. We can install 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Scilab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from websites:-</a:t>
            </a:r>
          </a:p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  <a:hlinkClick r:id="rId2"/>
              </a:rPr>
              <a:t>www.scilab.org</a:t>
            </a: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  <a:hlinkClick r:id="rId3"/>
              </a:rPr>
              <a:t>www.scilab.in</a:t>
            </a:r>
            <a:endParaRPr lang="en-IN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0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INTRODUCTION</a:t>
            </a:r>
            <a:endParaRPr lang="en-US" u="sng" dirty="0"/>
          </a:p>
        </p:txBody>
      </p:sp>
      <p:pic>
        <p:nvPicPr>
          <p:cNvPr id="2097153" name="Picture 5" descr="C:\Users\Dell\AppData\Local\Microsoft\Windows\INetCache\IE\WJNSRRD7\scilab-logo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57949" y="5829300"/>
            <a:ext cx="2686051" cy="1028700"/>
          </a:xfrm>
          <a:prstGeom prst="rect">
            <a:avLst/>
          </a:prstGeom>
          <a:noFill/>
        </p:spPr>
      </p:pic>
      <p:sp>
        <p:nvSpPr>
          <p:cNvPr id="104860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Content Placeholder 5" descr="Screenshot (49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81139"/>
            <a:ext cx="9144000" cy="5376862"/>
          </a:xfrm>
        </p:spPr>
      </p:pic>
      <p:sp>
        <p:nvSpPr>
          <p:cNvPr id="104860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PLOTTING</a:t>
            </a:r>
            <a:endParaRPr lang="en-US" u="sng" dirty="0"/>
          </a:p>
        </p:txBody>
      </p:sp>
      <p:sp>
        <p:nvSpPr>
          <p:cNvPr id="104860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Content Placeholder 3" descr="Screenshot (50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5728"/>
            <a:ext cx="9144000" cy="6572271"/>
          </a:xfrm>
        </p:spPr>
      </p:pic>
      <p:sp>
        <p:nvSpPr>
          <p:cNvPr id="104860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Content Placeholder 3" descr="Screenshot (4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5729"/>
            <a:ext cx="9144000" cy="6572272"/>
          </a:xfrm>
        </p:spPr>
      </p:pic>
      <p:sp>
        <p:nvSpPr>
          <p:cNvPr id="10486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6296" lnSpcReduction="20000"/>
          </a:bodyPr>
          <a:lstStyle/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Bessel functions are also known as cylindrical functions-</a:t>
            </a:r>
          </a:p>
          <a:p>
            <a:pPr algn="just"/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>
              <a:buNone/>
            </a:pPr>
            <a:r>
              <a:rPr lang="en-IN" dirty="0">
                <a:latin typeface="Yu Gothic UI" pitchFamily="34" charset="-128"/>
                <a:ea typeface="Yu Gothic UI" pitchFamily="34" charset="-128"/>
              </a:rPr>
              <a:t>  </a:t>
            </a:r>
          </a:p>
          <a:p>
            <a:pPr algn="just">
              <a:buNone/>
            </a:pPr>
            <a:r>
              <a:rPr lang="en-IN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for an arbitrary complex number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, the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order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of the Bessel function. Although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and −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produce the same differential equation for real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, it is conventional to define different Bessel functions for these two values in such a way that the Bessel functions are mostly smooth functions of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.</a:t>
            </a:r>
          </a:p>
        </p:txBody>
      </p:sp>
      <p:sp>
        <p:nvSpPr>
          <p:cNvPr id="104861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BESSEL FUNCTION</a:t>
            </a:r>
            <a:endParaRPr lang="en-US" u="sng" dirty="0"/>
          </a:p>
        </p:txBody>
      </p:sp>
      <p:pic>
        <p:nvPicPr>
          <p:cNvPr id="2097157" name="Picture 20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3" y="2357430"/>
            <a:ext cx="4331136" cy="785818"/>
          </a:xfrm>
          <a:prstGeom prst="rect">
            <a:avLst/>
          </a:prstGeom>
        </p:spPr>
      </p:pic>
      <p:sp>
        <p:nvSpPr>
          <p:cNvPr id="1048613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Content Placeholder 1"/>
          <p:cNvSpPr>
            <a:spLocks noGrp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>
            <a:normAutofit fontScale="85185" lnSpcReduction="10000"/>
          </a:bodyPr>
          <a:lstStyle/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Bessel function is also known as first and second order kind. The above equation is second order Bessel differential equation,  therefore, there must be two linearly independent solutions.</a:t>
            </a:r>
          </a:p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There are two types of Bessel functions –</a:t>
            </a:r>
          </a:p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Bessel function of first kind, </a:t>
            </a:r>
            <a:r>
              <a:rPr lang="en-US" dirty="0" err="1"/>
              <a:t>J</a:t>
            </a:r>
            <a:r>
              <a:rPr lang="en-US" baseline="-25000" dirty="0" err="1"/>
              <a:t>α</a:t>
            </a:r>
            <a:r>
              <a:rPr lang="en-US" baseline="-25000" dirty="0"/>
              <a:t> </a:t>
            </a: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Bessel</a:t>
            </a:r>
            <a:r>
              <a:rPr lang="en-IN" baseline="-25000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function of second kind,</a:t>
            </a:r>
            <a:r>
              <a:rPr lang="en-US" sz="2800" dirty="0"/>
              <a:t> </a:t>
            </a:r>
            <a:r>
              <a:rPr lang="en-US" sz="2800" dirty="0" err="1"/>
              <a:t>Y</a:t>
            </a:r>
            <a:r>
              <a:rPr lang="en-US" sz="2800" baseline="-25000" dirty="0" err="1"/>
              <a:t>α</a:t>
            </a:r>
            <a:r>
              <a:rPr lang="en-US" sz="2800" baseline="-25000" dirty="0"/>
              <a:t> </a:t>
            </a:r>
            <a:r>
              <a:rPr lang="en-US" sz="2800" dirty="0"/>
              <a:t> </a:t>
            </a:r>
          </a:p>
          <a:p>
            <a:pPr algn="just">
              <a:buNone/>
            </a:pPr>
            <a:r>
              <a:rPr lang="en-IN" sz="2800" dirty="0"/>
              <a:t>  </a:t>
            </a:r>
            <a:r>
              <a:rPr lang="en-IN" sz="2800" b="1" dirty="0">
                <a:latin typeface="Yu Gothic UI" pitchFamily="34" charset="-128"/>
                <a:ea typeface="Yu Gothic UI" pitchFamily="34" charset="-128"/>
              </a:rPr>
              <a:t>Bessel function of first kind-</a:t>
            </a:r>
          </a:p>
          <a:p>
            <a:pPr algn="just">
              <a:buNone/>
            </a:pP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   Bessel functions of the first kind, denoted as </a:t>
            </a:r>
            <a:r>
              <a:rPr lang="en-US" sz="2800" i="1" dirty="0" err="1">
                <a:latin typeface="Yu Gothic UI" pitchFamily="34" charset="-128"/>
                <a:ea typeface="Yu Gothic UI" pitchFamily="34" charset="-128"/>
              </a:rPr>
              <a:t>J</a:t>
            </a:r>
            <a:r>
              <a:rPr lang="en-US" sz="2800" i="1" baseline="-25000" dirty="0" err="1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(</a:t>
            </a:r>
            <a:r>
              <a:rPr lang="en-US" sz="2800" i="1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), are solutions of Bessel's differential equation that are finite at the origin (</a:t>
            </a:r>
            <a:r>
              <a:rPr lang="en-US" sz="2800" i="1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 = 0) for integer or positive α and diverge as </a:t>
            </a:r>
            <a:r>
              <a:rPr lang="en-US" sz="2800" i="1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 approaches zero for negative non-integer </a:t>
            </a:r>
            <a:r>
              <a:rPr lang="en-US" sz="2800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. It is possible to define the function by its series expansion around </a:t>
            </a:r>
            <a:r>
              <a:rPr lang="en-US" sz="2800" i="1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 = 0, which can be found by applying the </a:t>
            </a:r>
            <a:r>
              <a:rPr lang="en-US" sz="2800" dirty="0" err="1">
                <a:latin typeface="Yu Gothic UI" pitchFamily="34" charset="-128"/>
                <a:ea typeface="Yu Gothic UI" pitchFamily="34" charset="-128"/>
              </a:rPr>
              <a:t>Frobenius</a:t>
            </a:r>
            <a:r>
              <a:rPr lang="en-US" sz="2800" dirty="0">
                <a:latin typeface="Yu Gothic UI" pitchFamily="34" charset="-128"/>
                <a:ea typeface="Yu Gothic UI" pitchFamily="34" charset="-128"/>
              </a:rPr>
              <a:t> method to Bessel's equation:</a:t>
            </a:r>
          </a:p>
          <a:p>
            <a:pPr algn="just">
              <a:buNone/>
            </a:pPr>
            <a:endParaRPr lang="en-IN" sz="2800" b="1" dirty="0">
              <a:latin typeface="Yu Gothic UI" pitchFamily="34" charset="-128"/>
              <a:ea typeface="Yu Gothic UI" pitchFamily="34" charset="-128"/>
            </a:endParaRPr>
          </a:p>
          <a:p>
            <a:pPr algn="just">
              <a:buNone/>
            </a:pPr>
            <a:r>
              <a:rPr lang="en-IN" sz="2800" b="1" baseline="-25000" dirty="0">
                <a:latin typeface="Yu Gothic UI" pitchFamily="34" charset="-128"/>
                <a:ea typeface="Yu Gothic UI" pitchFamily="34" charset="-128"/>
              </a:rPr>
              <a:t>                                                                  </a:t>
            </a:r>
            <a:endParaRPr lang="en-US" sz="2800" b="1" baseline="-25000" dirty="0">
              <a:latin typeface="Yu Gothic UI" pitchFamily="34" charset="-128"/>
              <a:ea typeface="Yu Gothic UI" pitchFamily="34" charset="-128"/>
            </a:endParaRPr>
          </a:p>
          <a:p>
            <a:endParaRPr lang="en-US" sz="2800" dirty="0"/>
          </a:p>
          <a:p>
            <a:endParaRPr lang="en-IN" sz="2800" baseline="-25000" dirty="0">
              <a:latin typeface="Yu Gothic UI" pitchFamily="34" charset="-128"/>
              <a:ea typeface="Yu Gothic UI" pitchFamily="34" charset="-128"/>
            </a:endParaRPr>
          </a:p>
          <a:p>
            <a:endParaRPr lang="en-IN" baseline="-25000" dirty="0">
              <a:latin typeface="Yu Gothic UI" pitchFamily="34" charset="-128"/>
              <a:ea typeface="Yu Gothic UI" pitchFamily="34" charset="-128"/>
            </a:endParaRPr>
          </a:p>
          <a:p>
            <a:endParaRPr lang="en-IN" baseline="-25000" dirty="0">
              <a:latin typeface="Yu Gothic UI" pitchFamily="34" charset="-128"/>
              <a:ea typeface="Yu Gothic UI" pitchFamily="34" charset="-128"/>
            </a:endParaRPr>
          </a:p>
          <a:p>
            <a:endParaRPr lang="en-US" sz="3200" baseline="-25000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7</a:t>
            </a:fld>
            <a:endParaRPr lang="en-US"/>
          </a:p>
        </p:txBody>
      </p:sp>
      <p:pic>
        <p:nvPicPr>
          <p:cNvPr id="2097158" name="Picture 4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65" y="6072207"/>
            <a:ext cx="3417361" cy="571504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8</a:t>
            </a:fld>
            <a:endParaRPr lang="en-US"/>
          </a:p>
        </p:txBody>
      </p:sp>
      <p:sp>
        <p:nvSpPr>
          <p:cNvPr id="1048620" name="Content Placeholder 1"/>
          <p:cNvSpPr>
            <a:spLocks noGrp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where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Γ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(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z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) is the gamma function, a shifted generalization of the factorial function to non-integer values. The Bessel function of the first kind is an entire function if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α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is an integer, otherwise it is a 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multivalued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function with singularity at zero. The graphs of Bessel functions look roughly like oscillating sine or cosine functions that decay proportionally to ​</a:t>
            </a:r>
            <a:r>
              <a:rPr lang="en-US" baseline="30000" dirty="0">
                <a:latin typeface="Yu Gothic UI" pitchFamily="34" charset="-128"/>
                <a:ea typeface="Yu Gothic UI" pitchFamily="34" charset="-128"/>
              </a:rPr>
              <a:t>1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⁄</a:t>
            </a:r>
            <a:r>
              <a:rPr lang="en-US" baseline="-25000" dirty="0">
                <a:latin typeface="Yu Gothic UI" pitchFamily="34" charset="-128"/>
                <a:ea typeface="Yu Gothic UI" pitchFamily="34" charset="-128"/>
              </a:rPr>
              <a:t>√</a:t>
            </a:r>
            <a:r>
              <a:rPr lang="en-US" i="1" baseline="-25000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, although their roots are not generally periodic, except asymptotically for large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x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. </a:t>
            </a:r>
            <a:endParaRPr lang="en-US" i="1" dirty="0">
              <a:latin typeface="Yu Gothic UI" pitchFamily="34" charset="-128"/>
              <a:ea typeface="Yu Gothic UI" pitchFamily="34" charset="-128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Content Placeholder 4" descr="Screenshot (5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00109"/>
            <a:ext cx="9144000" cy="5463731"/>
          </a:xfrm>
        </p:spPr>
      </p:pic>
      <p:sp>
        <p:nvSpPr>
          <p:cNvPr id="1048621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9</a:t>
            </a:fld>
            <a:endParaRPr lang="en-US"/>
          </a:p>
        </p:txBody>
      </p:sp>
      <p:sp>
        <p:nvSpPr>
          <p:cNvPr id="104862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IN" u="sng" dirty="0"/>
              <a:t>BESSEL FUNCTION IN SCILAB</a:t>
            </a:r>
            <a:endParaRPr lang="en-US" u="sng" dirty="0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Content Placeholder 1"/>
          <p:cNvSpPr>
            <a:spLocks noGrp="1"/>
          </p:cNvSpPr>
          <p:nvPr>
            <p:ph idx="1"/>
          </p:nvPr>
        </p:nvSpPr>
        <p:spPr>
          <a:xfrm>
            <a:off x="457200" y="1500173"/>
            <a:ext cx="8229600" cy="4507119"/>
          </a:xfrm>
        </p:spPr>
        <p:txBody>
          <a:bodyPr>
            <a:normAutofit/>
          </a:bodyPr>
          <a:lstStyle/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Electromagnetic waves in a cylindrical waveguide</a:t>
            </a:r>
          </a:p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Heat conduction in a cylindrical object</a:t>
            </a:r>
          </a:p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Modes of vibration of a thin circular (or annular) acoustic membrane (such as a drum)</a:t>
            </a:r>
          </a:p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Solutions to the radial Schrödinger equation (in spherical and cylindrical coordinates) for a free particle</a:t>
            </a:r>
          </a:p>
          <a:p>
            <a:r>
              <a:rPr lang="en-US" dirty="0">
                <a:latin typeface="Yu Gothic UI" pitchFamily="34" charset="-128"/>
                <a:ea typeface="Yu Gothic UI" pitchFamily="34" charset="-128"/>
              </a:rPr>
              <a:t>Dynamics of floating bodies</a:t>
            </a:r>
          </a:p>
          <a:p>
            <a:endParaRPr lang="en-US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2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10</a:t>
            </a:fld>
            <a:endParaRPr lang="en-US"/>
          </a:p>
        </p:txBody>
      </p:sp>
      <p:sp>
        <p:nvSpPr>
          <p:cNvPr id="104862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u="sng" dirty="0"/>
              <a:t>APPLICATIONS OF BESSEL FUNCTION</a:t>
            </a:r>
            <a:endParaRPr lang="en-US" sz="3200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Content Placeholder 1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4721431"/>
          </a:xfrm>
        </p:spPr>
        <p:txBody>
          <a:bodyPr>
            <a:normAutofit fontScale="96296"/>
          </a:bodyPr>
          <a:lstStyle/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In mathematics, Legendre functions are the solution of Legendre differential equation-</a:t>
            </a:r>
          </a:p>
          <a:p>
            <a:pPr algn="just"/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/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/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algn="just"/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 marL="109728" indent="0" algn="just">
              <a:buNone/>
            </a:pPr>
            <a:endParaRPr lang="en-US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2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11</a:t>
            </a:fld>
            <a:endParaRPr lang="en-US"/>
          </a:p>
        </p:txBody>
      </p:sp>
      <p:sp>
        <p:nvSpPr>
          <p:cNvPr id="104862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LEGENDRE FUNCTION</a:t>
            </a:r>
            <a:endParaRPr lang="en-US" u="sng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FEC988A-49AD-7949-B6FA-B029BA54A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58" y="2586037"/>
            <a:ext cx="6482743" cy="26935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C495BE-F3B5-454D-9142-C42D88F00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14121"/>
            <a:ext cx="8229600" cy="5775971"/>
          </a:xfrm>
        </p:spPr>
        <p:txBody>
          <a:bodyPr>
            <a:normAutofit lnSpcReduction="10000"/>
          </a:bodyPr>
          <a:lstStyle/>
          <a:p>
            <a:r>
              <a:rPr lang="en-IN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 above form is Legendre differential equation corresponding to the case </a:t>
            </a:r>
            <a:r>
              <a:rPr lang="en-IN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m=0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Legendre differential equation has </a:t>
            </a:r>
            <a:r>
              <a:rPr lang="en-GB" sz="32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2"/>
              </a:rPr>
              <a:t>regular singular points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at </a:t>
            </a:r>
            <a:r>
              <a:rPr lang="en-IN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-1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1, and</a:t>
            </a:r>
            <a:r>
              <a:rPr lang="en-IN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infinity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.</a:t>
            </a:r>
          </a:p>
          <a:p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the variable  is replaced by</a:t>
            </a:r>
            <a:r>
              <a:rPr lang="en-IN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cos theta</a:t>
            </a:r>
            <a:r>
              <a:rPr lang="en-GB" sz="32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, then the Legendre differential equation becomes</a:t>
            </a:r>
            <a:endParaRPr lang="en-IN" sz="32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sz="3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3200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9728" indent="0">
              <a:buNone/>
            </a:pPr>
            <a:r>
              <a:rPr lang="en-IN" sz="3200">
                <a:solidFill>
                  <a:srgbClr val="00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+mj-cs"/>
              </a:rPr>
              <a:t>  derived below is the case when m is not   equal to 0</a:t>
            </a:r>
            <a:endParaRPr lang="en-US" sz="320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2AF96-C6EC-9C45-A4BD-C37DD142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65808-30A0-7943-84EE-4A10A4A9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271" y="3185432"/>
            <a:ext cx="323850" cy="133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EE78E-9697-964E-8BBE-81F1CF024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271" y="3335432"/>
            <a:ext cx="161925" cy="133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2C8341-DFD4-9C45-8F7A-9747E90DD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271" y="3485432"/>
            <a:ext cx="114300" cy="13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1EA52D-A88A-DC47-A7C4-213E2B4A7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271" y="3635432"/>
            <a:ext cx="66675" cy="133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567D9F-F89C-CC4B-B2F4-EA97D857F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3271" y="3785432"/>
            <a:ext cx="266700" cy="133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6F23BB-7E1D-8243-8EC8-91D01870E519}"/>
              </a:ext>
            </a:extLst>
          </p:cNvPr>
          <p:cNvSpPr txBox="1"/>
          <p:nvPr/>
        </p:nvSpPr>
        <p:spPr>
          <a:xfrm>
            <a:off x="3629988" y="3588252"/>
            <a:ext cx="2513240" cy="75000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CBCF09E3-0EA2-DE48-BB6A-2719E65D68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492" y="3751379"/>
            <a:ext cx="4331558" cy="129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123FF7-831E-2549-A520-1666F391DE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7707" y="2648896"/>
            <a:ext cx="304800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17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668E5E-B55C-8B42-A5D1-9EBC764C2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59" y="574788"/>
            <a:ext cx="8229600" cy="5476613"/>
          </a:xfrm>
        </p:spPr>
        <p:txBody>
          <a:bodyPr>
            <a:normAutofit/>
          </a:bodyPr>
          <a:lstStyle/>
          <a:p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Since the Legendre differential equation is a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2"/>
              </a:rPr>
              <a:t>second-order ordinary differential equation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it has two linearly independent solutions. A solution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p1(x) 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which is regular at finite points is called a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3"/>
              </a:rPr>
              <a:t>Legendre function of the first kind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while a solution 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Q1(x) 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which is singular at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+1 &amp; -1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is called a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4"/>
              </a:rPr>
              <a:t>Legendre function of the second kind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If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 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an integer, the function of the first kind reduces to a polynomial known as the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5"/>
              </a:rPr>
              <a:t>Legendre polynomial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Legendre differential equation can be solved using the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6"/>
              </a:rPr>
              <a:t>Frobenius method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by making a series expansion with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k=0,</a:t>
            </a:r>
          </a:p>
          <a:p>
            <a:endParaRPr lang="en-IN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IN" sz="2000">
                <a:solidFill>
                  <a:srgbClr val="000000"/>
                </a:solidFill>
                <a:latin typeface="Arial" panose="020B0604020202020204" pitchFamily="34" charset="0"/>
              </a:rPr>
              <a:t>Plugging in, the orignal equation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6A8BC6-9EFD-0C4B-A6A5-01C611CC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AB214-925B-1D44-8704-CB16C0228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559" y="3485110"/>
            <a:ext cx="304800" cy="133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CC6BF7-DD96-8A48-BB86-8749C96620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559" y="3785110"/>
            <a:ext cx="38100" cy="1333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5055F75-C490-CC45-A654-414B6D110F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061" y="3429000"/>
            <a:ext cx="2094265" cy="16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3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76926C14-452D-8E47-B969-15B901B6B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5"/>
          <a:stretch/>
        </p:blipFill>
        <p:spPr>
          <a:xfrm>
            <a:off x="457200" y="340180"/>
            <a:ext cx="8190072" cy="36194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72A254-A252-2143-B0BB-FB71E579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7DA0EC5-55FE-5746-9A9D-687C906C7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93635"/>
            <a:ext cx="5286375" cy="1533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391A93-0114-9448-9EA7-45BFE116C766}"/>
              </a:ext>
            </a:extLst>
          </p:cNvPr>
          <p:cNvSpPr txBox="1"/>
          <p:nvPr/>
        </p:nvSpPr>
        <p:spPr>
          <a:xfrm>
            <a:off x="457200" y="4141991"/>
            <a:ext cx="4577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/>
              <a:t>Each term should vanish_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72890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EE458F7-2492-4646-81AC-CADD576A6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9" y="206601"/>
            <a:ext cx="6334125" cy="30765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87D9C0-73FC-7D4C-8B41-1D25082A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4B2AF60-203E-D74D-B54C-FF5274790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574825"/>
            <a:ext cx="6096000" cy="2459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30E2A-6262-EC47-9FED-BCE6E576E02E}"/>
              </a:ext>
            </a:extLst>
          </p:cNvPr>
          <p:cNvSpPr txBox="1"/>
          <p:nvPr/>
        </p:nvSpPr>
        <p:spPr>
          <a:xfrm>
            <a:off x="5372100" y="206601"/>
            <a:ext cx="32751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000">
                <a:solidFill>
                  <a:srgbClr val="000000"/>
                </a:solidFill>
                <a:latin typeface="Arial" panose="020B0604020202020204" pitchFamily="34" charset="0"/>
              </a:rPr>
              <a:t>l i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 an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4"/>
              </a:rPr>
              <a:t>even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5"/>
              </a:rPr>
              <a:t>integer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the series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000">
                <a:solidFill>
                  <a:srgbClr val="000000"/>
                </a:solidFill>
                <a:latin typeface="Arial" panose="020B0604020202020204" pitchFamily="34" charset="0"/>
              </a:rPr>
              <a:t>y1(x)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reduces to a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6"/>
              </a:rPr>
              <a:t>polynomial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of degree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with only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4"/>
              </a:rPr>
              <a:t>even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7"/>
              </a:rPr>
              <a:t>powers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 the series diverges. If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is an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8"/>
              </a:rPr>
              <a:t>odd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5"/>
              </a:rPr>
              <a:t>integer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the series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y2(x)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reduces to a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6"/>
              </a:rPr>
              <a:t>polynomial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 degree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with only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8"/>
              </a:rPr>
              <a:t>odd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2000" b="0" i="0" u="none" strike="noStrike">
                <a:solidFill>
                  <a:srgbClr val="006699"/>
                </a:solidFill>
                <a:effectLst/>
                <a:latin typeface="Arial" panose="020B0604020202020204" pitchFamily="34" charset="0"/>
                <a:hlinkClick r:id="rId7"/>
              </a:rPr>
              <a:t>powers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 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the series</a:t>
            </a:r>
            <a:r>
              <a:rPr lang="en-IN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y1(x)</a:t>
            </a:r>
            <a:r>
              <a:rPr lang="en-GB" sz="20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diverges. </a:t>
            </a:r>
            <a:endParaRPr 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B936DA-FB45-E848-8B52-EA50E6ED2F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146" y="2865664"/>
            <a:ext cx="38100" cy="133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851EB0-DD47-1E44-B087-B4DCDBE242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6146" y="3915664"/>
            <a:ext cx="38100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1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Content Placeholder 4" descr="Screenshot (5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2984"/>
            <a:ext cx="9144000" cy="5428011"/>
          </a:xfrm>
        </p:spPr>
      </p:pic>
      <p:sp>
        <p:nvSpPr>
          <p:cNvPr id="104863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16</a:t>
            </a:fld>
            <a:endParaRPr lang="en-US"/>
          </a:p>
        </p:txBody>
      </p:sp>
      <p:sp>
        <p:nvSpPr>
          <p:cNvPr id="1048637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82660"/>
          </a:xfrm>
        </p:spPr>
        <p:txBody>
          <a:bodyPr>
            <a:normAutofit/>
          </a:bodyPr>
          <a:lstStyle/>
          <a:p>
            <a:r>
              <a:rPr lang="en-IN" u="sng" dirty="0"/>
              <a:t>LEGENDRE FUNCTION IN SCILAB</a:t>
            </a:r>
            <a:endParaRPr lang="en-US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Content Placeholder 3"/>
          <p:cNvSpPr>
            <a:spLocks noGrp="1"/>
          </p:cNvSpPr>
          <p:nvPr>
            <p:ph idx="1"/>
          </p:nvPr>
        </p:nvSpPr>
        <p:spPr>
          <a:xfrm>
            <a:off x="0" y="692929"/>
            <a:ext cx="9144000" cy="5715016"/>
          </a:xfrm>
        </p:spPr>
        <p:txBody>
          <a:bodyPr>
            <a:normAutofit fontScale="96389"/>
          </a:bodyPr>
          <a:lstStyle/>
          <a:p>
            <a:pPr>
              <a:buNone/>
            </a:pPr>
            <a:r>
              <a:rPr lang="en-US" b="1" dirty="0">
                <a:latin typeface="Yu Gothic UI" pitchFamily="34" charset="-128"/>
                <a:ea typeface="Yu Gothic UI" pitchFamily="34" charset="-128"/>
              </a:rPr>
              <a:t>1)Expanding a 1/r</a:t>
            </a:r>
            <a:r>
              <a:rPr lang="en-US" b="1" baseline="30000" dirty="0">
                <a:latin typeface="Yu Gothic UI" pitchFamily="34" charset="-128"/>
                <a:ea typeface="Yu Gothic UI" pitchFamily="34" charset="-128"/>
              </a:rPr>
              <a:t>2</a:t>
            </a:r>
            <a:r>
              <a:rPr lang="en-US" b="1" dirty="0">
                <a:latin typeface="Yu Gothic UI" pitchFamily="34" charset="-128"/>
                <a:ea typeface="Yu Gothic UI" pitchFamily="34" charset="-128"/>
              </a:rPr>
              <a:t> potential</a:t>
            </a:r>
          </a:p>
          <a:p>
            <a:pPr>
              <a:buNone/>
            </a:pPr>
            <a:endParaRPr lang="en-IN" b="1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IN" b="1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r>
              <a:rPr lang="en-US" b="1" dirty="0">
                <a:latin typeface="Yu Gothic UI" pitchFamily="34" charset="-128"/>
                <a:ea typeface="Yu Gothic UI" pitchFamily="34" charset="-128"/>
              </a:rPr>
              <a:t>2)Legendre polynomials in </a:t>
            </a:r>
            <a:r>
              <a:rPr lang="en-US" b="1" dirty="0" err="1">
                <a:latin typeface="Yu Gothic UI" pitchFamily="34" charset="-128"/>
                <a:ea typeface="Yu Gothic UI" pitchFamily="34" charset="-128"/>
              </a:rPr>
              <a:t>multipole</a:t>
            </a:r>
            <a:r>
              <a:rPr lang="en-US" b="1" dirty="0">
                <a:latin typeface="Yu Gothic UI" pitchFamily="34" charset="-128"/>
                <a:ea typeface="Yu Gothic UI" pitchFamily="34" charset="-128"/>
              </a:rPr>
              <a:t> expansions</a:t>
            </a:r>
          </a:p>
          <a:p>
            <a:pPr>
              <a:buNone/>
            </a:pPr>
            <a:r>
              <a:rPr lang="en-US" dirty="0">
                <a:latin typeface="Yu Gothic UI" pitchFamily="34" charset="-128"/>
                <a:ea typeface="Yu Gothic UI" pitchFamily="34" charset="-128"/>
              </a:rPr>
              <a:t>   Legendre polynomials are also useful in expanding functions of the form:</a:t>
            </a:r>
          </a:p>
          <a:p>
            <a:pPr>
              <a:buNone/>
            </a:pP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r>
              <a:rPr lang="en-US" b="1" dirty="0">
                <a:latin typeface="Yu Gothic UI" pitchFamily="34" charset="-128"/>
                <a:ea typeface="Yu Gothic UI" pitchFamily="34" charset="-128"/>
              </a:rPr>
              <a:t>3)Legendre polynomials in trigonometry</a:t>
            </a:r>
          </a:p>
          <a:p>
            <a:pPr>
              <a:buNone/>
            </a:pPr>
            <a:r>
              <a:rPr lang="en-US" dirty="0">
                <a:latin typeface="Yu Gothic UI" pitchFamily="34" charset="-128"/>
                <a:ea typeface="Yu Gothic UI" pitchFamily="34" charset="-128"/>
              </a:rPr>
              <a:t>   The trigonometric functions 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cos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n</a:t>
            </a:r>
            <a:r>
              <a:rPr lang="el-GR" i="1" dirty="0">
                <a:latin typeface="Yu Gothic UI" pitchFamily="34" charset="-128"/>
                <a:ea typeface="Yu Gothic UI" pitchFamily="34" charset="-128"/>
              </a:rPr>
              <a:t>θ</a:t>
            </a:r>
            <a:r>
              <a:rPr lang="el-GR" dirty="0">
                <a:latin typeface="Yu Gothic UI" pitchFamily="34" charset="-128"/>
                <a:ea typeface="Yu Gothic UI" pitchFamily="34" charset="-128"/>
              </a:rPr>
              <a:t>, 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also denoted as the 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Chebyshev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polynomials </a:t>
            </a:r>
            <a:r>
              <a:rPr lang="en-US" i="1" dirty="0" err="1">
                <a:latin typeface="Yu Gothic UI" pitchFamily="34" charset="-128"/>
                <a:ea typeface="Yu Gothic UI" pitchFamily="34" charset="-128"/>
              </a:rPr>
              <a:t>T</a:t>
            </a:r>
            <a:r>
              <a:rPr lang="en-US" i="1" baseline="-25000" dirty="0" err="1">
                <a:latin typeface="Yu Gothic UI" pitchFamily="34" charset="-128"/>
                <a:ea typeface="Yu Gothic UI" pitchFamily="34" charset="-128"/>
              </a:rPr>
              <a:t>n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(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cos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l-GR" i="1" dirty="0">
                <a:latin typeface="Yu Gothic UI" pitchFamily="34" charset="-128"/>
                <a:ea typeface="Yu Gothic UI" pitchFamily="34" charset="-128"/>
              </a:rPr>
              <a:t>θ</a:t>
            </a:r>
            <a:r>
              <a:rPr lang="el-GR" dirty="0">
                <a:latin typeface="Yu Gothic UI" pitchFamily="34" charset="-128"/>
                <a:ea typeface="Yu Gothic UI" pitchFamily="34" charset="-128"/>
              </a:rPr>
              <a:t>)≡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c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os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n-US" i="1" dirty="0">
                <a:latin typeface="Yu Gothic UI" pitchFamily="34" charset="-128"/>
                <a:ea typeface="Yu Gothic UI" pitchFamily="34" charset="-128"/>
              </a:rPr>
              <a:t>n</a:t>
            </a:r>
            <a:r>
              <a:rPr lang="el-GR" i="1" dirty="0">
                <a:latin typeface="Yu Gothic UI" pitchFamily="34" charset="-128"/>
                <a:ea typeface="Yu Gothic UI" pitchFamily="34" charset="-128"/>
              </a:rPr>
              <a:t>θ</a:t>
            </a:r>
            <a:r>
              <a:rPr lang="el-GR" dirty="0">
                <a:latin typeface="Yu Gothic UI" pitchFamily="34" charset="-128"/>
                <a:ea typeface="Yu Gothic UI" pitchFamily="34" charset="-128"/>
              </a:rPr>
              <a:t>, 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can also be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 m</a:t>
            </a:r>
            <a:r>
              <a:rPr lang="en-US" dirty="0" err="1">
                <a:latin typeface="Yu Gothic UI" pitchFamily="34" charset="-128"/>
                <a:ea typeface="Yu Gothic UI" pitchFamily="34" charset="-128"/>
              </a:rPr>
              <a:t>ultipole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 expanded by the Legendr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e </a:t>
            </a:r>
            <a:r>
              <a:rPr lang="en-US" dirty="0">
                <a:latin typeface="Yu Gothic UI" pitchFamily="34" charset="-128"/>
                <a:ea typeface="Yu Gothic UI" pitchFamily="34" charset="-128"/>
              </a:rPr>
              <a:t>polynomials </a:t>
            </a:r>
            <a:r>
              <a:rPr lang="en-US" i="1" dirty="0" err="1">
                <a:latin typeface="Yu Gothic UI" pitchFamily="34" charset="-128"/>
                <a:ea typeface="Yu Gothic UI" pitchFamily="34" charset="-128"/>
              </a:rPr>
              <a:t>P</a:t>
            </a:r>
            <a:r>
              <a:rPr lang="en-US" sz="2100" i="1" baseline="-25000" dirty="0" err="1">
                <a:latin typeface="Yu Gothic UI" pitchFamily="34" charset="-128"/>
                <a:ea typeface="Yu Gothic UI" pitchFamily="34" charset="-128"/>
              </a:rPr>
              <a:t>n</a:t>
            </a:r>
            <a:r>
              <a:rPr lang="en-US" sz="2100" dirty="0">
                <a:latin typeface="Yu Gothic UI" pitchFamily="34" charset="-128"/>
                <a:ea typeface="Yu Gothic UI" pitchFamily="34" charset="-128"/>
              </a:rPr>
              <a:t>(</a:t>
            </a:r>
            <a:r>
              <a:rPr lang="en-US" sz="2100" dirty="0" err="1">
                <a:latin typeface="Yu Gothic UI" pitchFamily="34" charset="-128"/>
                <a:ea typeface="Yu Gothic UI" pitchFamily="34" charset="-128"/>
              </a:rPr>
              <a:t>cos</a:t>
            </a:r>
            <a:r>
              <a:rPr lang="en-US" sz="2100" dirty="0">
                <a:latin typeface="Yu Gothic UI" pitchFamily="34" charset="-128"/>
                <a:ea typeface="Yu Gothic UI" pitchFamily="34" charset="-128"/>
              </a:rPr>
              <a:t> </a:t>
            </a:r>
            <a:r>
              <a:rPr lang="el-GR" sz="2100" i="1" dirty="0">
                <a:latin typeface="Yu Gothic UI" pitchFamily="34" charset="-128"/>
                <a:ea typeface="Yu Gothic UI" pitchFamily="34" charset="-128"/>
              </a:rPr>
              <a:t>θ</a:t>
            </a:r>
            <a:r>
              <a:rPr lang="el-GR" sz="2100" dirty="0">
                <a:latin typeface="Yu Gothic UI" pitchFamily="34" charset="-128"/>
                <a:ea typeface="Yu Gothic UI" pitchFamily="34" charset="-128"/>
              </a:rPr>
              <a:t>).</a:t>
            </a:r>
          </a:p>
          <a:p>
            <a:pPr>
              <a:buNone/>
            </a:pPr>
            <a:endParaRPr lang="en-US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IN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US" dirty="0">
              <a:latin typeface="Yu Gothic UI" pitchFamily="34" charset="-128"/>
              <a:ea typeface="Yu Gothic UI" pitchFamily="34" charset="-128"/>
            </a:endParaRPr>
          </a:p>
          <a:p>
            <a:pPr>
              <a:buNone/>
            </a:pPr>
            <a:endParaRPr lang="en-US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3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17</a:t>
            </a:fld>
            <a:endParaRPr lang="en-US"/>
          </a:p>
        </p:txBody>
      </p:sp>
      <p:sp>
        <p:nvSpPr>
          <p:cNvPr id="1048640" name="Title 2"/>
          <p:cNvSpPr>
            <a:spLocks noGrp="1"/>
          </p:cNvSpPr>
          <p:nvPr>
            <p:ph type="title"/>
          </p:nvPr>
        </p:nvSpPr>
        <p:spPr>
          <a:xfrm>
            <a:off x="231322" y="-125482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u="sng" dirty="0"/>
              <a:t>APPLICATIONS OF LEGENDRE FUNCTION</a:t>
            </a:r>
            <a:endParaRPr lang="en-US" sz="3200" u="sng" dirty="0"/>
          </a:p>
        </p:txBody>
      </p:sp>
      <p:pic>
        <p:nvPicPr>
          <p:cNvPr id="2097166" name="Picture 4" descr="{displaystyle {frac {1}{leftmathbf {x} -mathbf {x} 'right}}={frac {1}{sqrt {r^{2}+{r'}^{2}-2r{r'}cos gamma }}}=sum _{l=0}^{infty }{frac {{r'}^{l}}{r^{l+1}}}P_{l}(cos gamma )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2" y="1164122"/>
            <a:ext cx="7239000" cy="857257"/>
          </a:xfrm>
          <a:prstGeom prst="rect">
            <a:avLst/>
          </a:prstGeom>
        </p:spPr>
      </p:pic>
      <p:pic>
        <p:nvPicPr>
          <p:cNvPr id="2097167" name="Picture 5" descr="k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80563"/>
            <a:ext cx="3714776" cy="8572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311EA9-3303-9049-8EB6-69DF1998E347}"/>
              </a:ext>
            </a:extLst>
          </p:cNvPr>
          <p:cNvSpPr txBox="1"/>
          <p:nvPr/>
        </p:nvSpPr>
        <p:spPr>
          <a:xfrm>
            <a:off x="231322" y="6013444"/>
            <a:ext cx="8415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/>
              <a:t>4) Legendre Function do not have direct application in physics, It is a mathematical tool that is required to solve numerical problems in physics.</a:t>
            </a:r>
            <a:endParaRPr lang="en-US" sz="20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6296" lnSpcReduction="20000"/>
          </a:bodyPr>
          <a:lstStyle/>
          <a:p>
            <a:pPr algn="just"/>
            <a:r>
              <a:rPr lang="en-IN" dirty="0">
                <a:latin typeface="Yu Gothic UI" pitchFamily="34" charset="-128"/>
                <a:ea typeface="Yu Gothic UI" pitchFamily="34" charset="-128"/>
              </a:rPr>
              <a:t>We would like to express our special thanks of gratitude to our teacher Mr. </a:t>
            </a:r>
            <a:r>
              <a:rPr lang="en-IN" dirty="0" err="1">
                <a:latin typeface="Yu Gothic UI" pitchFamily="34" charset="-128"/>
                <a:ea typeface="Yu Gothic UI" pitchFamily="34" charset="-128"/>
              </a:rPr>
              <a:t>Lokesh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 Kumar as well as other teachers who gave us the golden opportunity to do this wonderful project on the topic </a:t>
            </a:r>
            <a:r>
              <a:rPr lang="en-IN" b="1" dirty="0">
                <a:latin typeface="Yu Gothic UI" pitchFamily="34" charset="-128"/>
                <a:ea typeface="Yu Gothic UI" pitchFamily="34" charset="-128"/>
              </a:rPr>
              <a:t>Bessel function and Legendre function in </a:t>
            </a:r>
            <a:r>
              <a:rPr lang="en-IN" b="1" dirty="0" err="1">
                <a:latin typeface="Yu Gothic UI" pitchFamily="34" charset="-128"/>
                <a:ea typeface="Yu Gothic UI" pitchFamily="34" charset="-128"/>
              </a:rPr>
              <a:t>Scilab</a:t>
            </a:r>
            <a:r>
              <a:rPr lang="en-IN" dirty="0">
                <a:latin typeface="Yu Gothic UI" pitchFamily="34" charset="-128"/>
                <a:ea typeface="Yu Gothic UI" pitchFamily="34" charset="-128"/>
              </a:rPr>
              <a:t>, which also helped us in doing a lot of research and we came to know many new things. Secondly, we would also like to thank our friends who helped us a lot in finalising this project within the limited time frame.</a:t>
            </a:r>
            <a:endParaRPr lang="en-US" dirty="0">
              <a:latin typeface="Yu Gothic UI" pitchFamily="34" charset="-128"/>
              <a:ea typeface="Yu Gothic UI" pitchFamily="34" charset="-128"/>
            </a:endParaRPr>
          </a:p>
        </p:txBody>
      </p:sp>
      <p:sp>
        <p:nvSpPr>
          <p:cNvPr id="104860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18</a:t>
            </a:fld>
            <a:endParaRPr lang="en-US"/>
          </a:p>
        </p:txBody>
      </p:sp>
      <p:sp>
        <p:nvSpPr>
          <p:cNvPr id="10486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ACKNOWLEDGEMENT</a:t>
            </a:r>
            <a:endParaRPr lang="en-US" u="sn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16DA-C006-4F00-AF52-1B478716E620}" type="slidenum">
              <a:rPr lang="en-US" smtClean="0"/>
              <a:t>19</a:t>
            </a:fld>
            <a:endParaRPr lang="en-US"/>
          </a:p>
        </p:txBody>
      </p:sp>
      <p:pic>
        <p:nvPicPr>
          <p:cNvPr id="2097168" name="Picture 5" descr="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SCILAB</vt:lpstr>
      <vt:lpstr>INTRODUCTION</vt:lpstr>
      <vt:lpstr>PLOTTING</vt:lpstr>
      <vt:lpstr>PowerPoint Presentation</vt:lpstr>
      <vt:lpstr>PowerPoint Presentation</vt:lpstr>
      <vt:lpstr>BESSEL FUNCTION</vt:lpstr>
      <vt:lpstr>PowerPoint Presentation</vt:lpstr>
      <vt:lpstr>PowerPoint Presentation</vt:lpstr>
      <vt:lpstr>BESSEL FUNCTION IN SCILAB</vt:lpstr>
      <vt:lpstr>APPLICATIONS OF BESSEL FUNCTION</vt:lpstr>
      <vt:lpstr>LEGENDRE FUNCTION</vt:lpstr>
      <vt:lpstr>PowerPoint Presentation</vt:lpstr>
      <vt:lpstr>PowerPoint Presentation</vt:lpstr>
      <vt:lpstr>PowerPoint Presentation</vt:lpstr>
      <vt:lpstr>PowerPoint Presentation</vt:lpstr>
      <vt:lpstr>LEGENDRE FUNCTION IN SCILAB</vt:lpstr>
      <vt:lpstr>APPLICATIONS OF LEGENDRE FUNCTION</vt:lpstr>
      <vt:lpstr>ACKNOWLEDGEMENT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SCILAB</dc:title>
  <dc:creator>Windows User</dc:creator>
  <cp:lastModifiedBy>Windows User</cp:lastModifiedBy>
  <cp:revision>3</cp:revision>
  <dcterms:created xsi:type="dcterms:W3CDTF">2018-08-10T20:57:04Z</dcterms:created>
  <dcterms:modified xsi:type="dcterms:W3CDTF">2018-08-25T18:31:48Z</dcterms:modified>
</cp:coreProperties>
</file>